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client’s sites. HYBRID is the product. Elecnovatech is the company. The first installation is Elecnovatech’s own block factory and plastic recycling factory. Replace the bracketed client name and date before the meeting.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Stay with the client’s own examples. Do not quote a percentage of waste, leakage, or time saved. We have not measured that for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client with only one of the two sites can work in that view. Renaming the sites, adding a third plant, or covering a different industry is quoted as customization. Each client gets their own deployment. Unrelated companies do not share one login portal.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Salary visibility is a separate permission. Do not imply every user can see payroll.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Also in the product, and not on this grid: documents, notifications, audit log, admin roles, and the phone screens. The movements list and the bill-of-materials screen exist in the code and are switched off in the current inventory page. Treat those as a proposed switch-on, not as a live menu item.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 formulas ship with the product and can be changed in admin settings. Confirm the client’s real sizes and bag weight in discovery. Capacity names the limiting material. Confidence rises as daily history builds. Do not promise a forecast accuracy rate.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Recycling orders keep a stage in addition to the simple pending-pickup and picked status used for blocks.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Payment methods on an order are cash or bank. Invoice required is a flag on the order. Do not describe a card machine, Telebirr, or an e-invoice integration. Those are not in the product. Credit scores are calculated in the application. They are not a bank decision.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sentence out loud: the agent is not a finished connector for every Sage 50 version. Quote the connector after you know the version. The link is outbound from their PC. There is a reconciliation status of matched, variance, pending, or approved.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Payroll calculates amounts inside HYBRID. It does not file tax returns. Bill of materials, locations, and lots are built and currently hidden. Offer them as a switch-on during scoping. Report schedules can be stored and paused. Automatic email delivery is not a verified mail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call this a Play Store or App Store app. It is the same web system on a phone. Do not promise answers if the client will not provide an xAI or OpenAI key. The design rule in the product is that numbers are computed in code.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 buyer asks for a feature in the right column, write it into the scope and the price. The amber column header uses white text. Keep the three labels in the proposal as well.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Timetable is [Agreed timetable] in the quote. Do not promise a fixed number of weeks in the room. Opening data is entered during setup. Do not promise a spreadsheet import unless it is added to the scope.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the brackets blank until finance approves a number. Do not invent a discount, a package name, or a market rate.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cite other customers, uptime, or a payback period. We do not have those as verified sales facts. Elecnovatech is the company that operates the reference plants and sells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the real contact in the card before the meeting. Ask which site they want to see first, and which Sage version they run.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8016" y="0"/>
            <a:ext cx="54864" cy="685800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hybrid-mark.png"/>
          <p:cNvPicPr>
            <a:picLocks noChangeAspect="1"/>
          </p:cNvPicPr>
          <p:nvPr/>
        </p:nvPicPr>
        <p:blipFill>
          <a:blip r:embed="rId2"/>
          <a:stretch>
            <a:fillRect/>
          </a:stretch>
        </p:blipFill>
        <p:spPr>
          <a:xfrm>
            <a:off x="640080" y="384048"/>
            <a:ext cx="1417320" cy="1060704"/>
          </a:xfrm>
          <a:prstGeom prst="rect">
            <a:avLst/>
          </a:prstGeom>
        </p:spPr>
      </p:pic>
      <p:sp>
        <p:nvSpPr>
          <p:cNvPr id="6" name="TextBox 5"/>
          <p:cNvSpPr txBox="1"/>
          <p:nvPr/>
        </p:nvSpPr>
        <p:spPr>
          <a:xfrm>
            <a:off x="2194560" y="566928"/>
            <a:ext cx="4572000" cy="256032"/>
          </a:xfrm>
          <a:prstGeom prst="rect">
            <a:avLst/>
          </a:prstGeom>
          <a:noFill/>
        </p:spPr>
        <p:txBody>
          <a:bodyPr wrap="square" lIns="0" rIns="0" tIns="0" bIns="0" anchor="t"/>
          <a:lstStyle/>
          <a:p>
            <a:pPr algn="l">
              <a:spcBef>
                <a:spcPts val="0"/>
              </a:spcBef>
              <a:spcAft>
                <a:spcPts val="0"/>
              </a:spcAft>
            </a:pPr>
            <a:r>
              <a:rPr sz="1300" b="1" i="0">
                <a:solidFill>
                  <a:srgbClr val="80C342"/>
                </a:solidFill>
                <a:latin typeface="Calibri"/>
              </a:rPr>
              <a:t>ELECNOVATECH</a:t>
            </a:r>
          </a:p>
        </p:txBody>
      </p:sp>
      <p:sp>
        <p:nvSpPr>
          <p:cNvPr id="7" name="TextBox 6"/>
          <p:cNvSpPr txBox="1"/>
          <p:nvPr/>
        </p:nvSpPr>
        <p:spPr>
          <a:xfrm>
            <a:off x="2194560" y="841248"/>
            <a:ext cx="4572000" cy="256032"/>
          </a:xfrm>
          <a:prstGeom prst="rect">
            <a:avLst/>
          </a:prstGeom>
          <a:noFill/>
        </p:spPr>
        <p:txBody>
          <a:bodyPr wrap="square" lIns="0" rIns="0" tIns="0" bIns="0" anchor="t"/>
          <a:lstStyle/>
          <a:p>
            <a:pPr algn="l">
              <a:spcBef>
                <a:spcPts val="0"/>
              </a:spcBef>
              <a:spcAft>
                <a:spcPts val="0"/>
              </a:spcAft>
            </a:pPr>
            <a:r>
              <a:rPr sz="1400" b="0" i="0">
                <a:solidFill>
                  <a:srgbClr val="00AEEF"/>
                </a:solidFill>
                <a:latin typeface="Calibri"/>
              </a:rPr>
              <a:t>Product introduction</a:t>
            </a:r>
          </a:p>
        </p:txBody>
      </p:sp>
      <p:sp>
        <p:nvSpPr>
          <p:cNvPr id="8" name="TextBox 7"/>
          <p:cNvSpPr txBox="1"/>
          <p:nvPr/>
        </p:nvSpPr>
        <p:spPr>
          <a:xfrm>
            <a:off x="640080" y="1691640"/>
            <a:ext cx="9144000" cy="868680"/>
          </a:xfrm>
          <a:prstGeom prst="rect">
            <a:avLst/>
          </a:prstGeom>
          <a:noFill/>
        </p:spPr>
        <p:txBody>
          <a:bodyPr wrap="square" lIns="0" rIns="0" tIns="0" bIns="0" anchor="t"/>
          <a:lstStyle/>
          <a:p>
            <a:pPr algn="l">
              <a:spcBef>
                <a:spcPts val="0"/>
              </a:spcBef>
              <a:spcAft>
                <a:spcPts val="0"/>
              </a:spcAft>
            </a:pPr>
            <a:r>
              <a:rPr sz="6000" b="1" i="0">
                <a:solidFill>
                  <a:srgbClr val="FFFFFF"/>
                </a:solidFill>
                <a:latin typeface="Calibri"/>
              </a:rPr>
              <a:t>HYBRID</a:t>
            </a:r>
          </a:p>
        </p:txBody>
      </p:sp>
      <p:sp>
        <p:nvSpPr>
          <p:cNvPr id="9" name="TextBox 8"/>
          <p:cNvSpPr txBox="1"/>
          <p:nvPr/>
        </p:nvSpPr>
        <p:spPr>
          <a:xfrm>
            <a:off x="658368" y="2651760"/>
            <a:ext cx="8229600" cy="822960"/>
          </a:xfrm>
          <a:prstGeom prst="rect">
            <a:avLst/>
          </a:prstGeom>
          <a:noFill/>
        </p:spPr>
        <p:txBody>
          <a:bodyPr wrap="square" lIns="0" rIns="0" tIns="0" bIns="0" anchor="t"/>
          <a:lstStyle/>
          <a:p>
            <a:pPr algn="l">
              <a:spcBef>
                <a:spcPts val="0"/>
              </a:spcBef>
              <a:spcAft>
                <a:spcPts val="0"/>
              </a:spcAft>
            </a:pPr>
            <a:r>
              <a:rPr sz="2400" b="0" i="0">
                <a:solidFill>
                  <a:srgbClr val="D5E4C8"/>
                </a:solidFill>
                <a:latin typeface="Calibri"/>
              </a:rPr>
              <a:t>The operations platform for block factories
and plastic recycling plants.</a:t>
            </a:r>
          </a:p>
        </p:txBody>
      </p:sp>
      <p:sp>
        <p:nvSpPr>
          <p:cNvPr id="10" name="Rectangle 9"/>
          <p:cNvSpPr/>
          <p:nvPr/>
        </p:nvSpPr>
        <p:spPr>
          <a:xfrm>
            <a:off x="658368" y="3703320"/>
            <a:ext cx="1920240" cy="54864"/>
          </a:xfrm>
          <a:prstGeom prst="rect">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913632"/>
            <a:ext cx="7772400" cy="640080"/>
          </a:xfrm>
          <a:prstGeom prst="rect">
            <a:avLst/>
          </a:prstGeom>
          <a:noFill/>
        </p:spPr>
        <p:txBody>
          <a:bodyPr wrap="square" lIns="0" rIns="0" tIns="0" bIns="0" anchor="t"/>
          <a:lstStyle/>
          <a:p>
            <a:pPr algn="l">
              <a:spcBef>
                <a:spcPts val="0"/>
              </a:spcBef>
              <a:spcAft>
                <a:spcPts val="0"/>
              </a:spcAft>
            </a:pPr>
            <a:r>
              <a:rPr sz="1600" b="0" i="0">
                <a:solidFill>
                  <a:srgbClr val="C5D0D6"/>
                </a:solidFill>
                <a:latin typeface="Calibri"/>
              </a:rPr>
              <a:t>Developed on Elecnovatech’s own block plant and recycling plant.
Configured and licensed again for each new client.</a:t>
            </a:r>
          </a:p>
        </p:txBody>
      </p:sp>
      <p:sp>
        <p:nvSpPr>
          <p:cNvPr id="12" name="Rounded Rectangle 11"/>
          <p:cNvSpPr/>
          <p:nvPr/>
        </p:nvSpPr>
        <p:spPr>
          <a:xfrm>
            <a:off x="658368" y="4846320"/>
            <a:ext cx="2240280" cy="420624"/>
          </a:xfrm>
          <a:prstGeom prst="roundRect">
            <a:avLst>
              <a:gd name="adj" fmla="val 30000"/>
            </a:avLst>
          </a:prstGeom>
          <a:solidFill>
            <a:srgbClr val="16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919472"/>
            <a:ext cx="2240280" cy="292608"/>
          </a:xfrm>
          <a:prstGeom prst="rect">
            <a:avLst/>
          </a:prstGeom>
          <a:noFill/>
        </p:spPr>
        <p:txBody>
          <a:bodyPr wrap="square" lIns="0" rIns="0" tIns="0" bIns="0" anchor="t"/>
          <a:lstStyle/>
          <a:p>
            <a:pPr algn="ctr">
              <a:spcBef>
                <a:spcPts val="0"/>
              </a:spcBef>
              <a:spcAft>
                <a:spcPts val="0"/>
              </a:spcAft>
            </a:pPr>
            <a:r>
              <a:rPr sz="1300" b="1" i="0">
                <a:solidFill>
                  <a:srgbClr val="FFFFFF"/>
                </a:solidFill>
                <a:latin typeface="Calibri"/>
              </a:rPr>
              <a:t>Block production</a:t>
            </a:r>
          </a:p>
        </p:txBody>
      </p:sp>
      <p:sp>
        <p:nvSpPr>
          <p:cNvPr id="14" name="Rounded Rectangle 13"/>
          <p:cNvSpPr/>
          <p:nvPr/>
        </p:nvSpPr>
        <p:spPr>
          <a:xfrm>
            <a:off x="3063240" y="4846320"/>
            <a:ext cx="2240280" cy="420624"/>
          </a:xfrm>
          <a:prstGeom prst="roundRect">
            <a:avLst>
              <a:gd name="adj" fmla="val 30000"/>
            </a:avLst>
          </a:prstGeom>
          <a:solidFill>
            <a:srgbClr val="16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63240" y="4919472"/>
            <a:ext cx="2240280" cy="292608"/>
          </a:xfrm>
          <a:prstGeom prst="rect">
            <a:avLst/>
          </a:prstGeom>
          <a:noFill/>
        </p:spPr>
        <p:txBody>
          <a:bodyPr wrap="square" lIns="0" rIns="0" tIns="0" bIns="0" anchor="t"/>
          <a:lstStyle/>
          <a:p>
            <a:pPr algn="ctr">
              <a:spcBef>
                <a:spcPts val="0"/>
              </a:spcBef>
              <a:spcAft>
                <a:spcPts val="0"/>
              </a:spcAft>
            </a:pPr>
            <a:r>
              <a:rPr sz="1300" b="1" i="0">
                <a:solidFill>
                  <a:srgbClr val="FFFFFF"/>
                </a:solidFill>
                <a:latin typeface="Calibri"/>
              </a:rPr>
              <a:t>Plastic recycling</a:t>
            </a:r>
          </a:p>
        </p:txBody>
      </p:sp>
      <p:sp>
        <p:nvSpPr>
          <p:cNvPr id="16" name="Rounded Rectangle 15"/>
          <p:cNvSpPr/>
          <p:nvPr/>
        </p:nvSpPr>
        <p:spPr>
          <a:xfrm>
            <a:off x="5623560" y="4846320"/>
            <a:ext cx="2240280" cy="420624"/>
          </a:xfrm>
          <a:prstGeom prst="roundRect">
            <a:avLst>
              <a:gd name="adj" fmla="val 30000"/>
            </a:avLst>
          </a:prstGeom>
          <a:solidFill>
            <a:srgbClr val="16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23560" y="4919472"/>
            <a:ext cx="2240280" cy="292608"/>
          </a:xfrm>
          <a:prstGeom prst="rect">
            <a:avLst/>
          </a:prstGeom>
          <a:noFill/>
        </p:spPr>
        <p:txBody>
          <a:bodyPr wrap="square" lIns="0" rIns="0" tIns="0" bIns="0" anchor="t"/>
          <a:lstStyle/>
          <a:p>
            <a:pPr algn="ctr">
              <a:spcBef>
                <a:spcPts val="0"/>
              </a:spcBef>
              <a:spcAft>
                <a:spcPts val="0"/>
              </a:spcAft>
            </a:pPr>
            <a:r>
              <a:rPr sz="1300" b="1" i="0">
                <a:solidFill>
                  <a:srgbClr val="FFFFFF"/>
                </a:solidFill>
                <a:latin typeface="Calibri"/>
              </a:rPr>
              <a:t>Ethiopian Birr</a:t>
            </a:r>
          </a:p>
        </p:txBody>
      </p:sp>
      <p:sp>
        <p:nvSpPr>
          <p:cNvPr id="18" name="Rounded Rectangle 17"/>
          <p:cNvSpPr/>
          <p:nvPr/>
        </p:nvSpPr>
        <p:spPr>
          <a:xfrm>
            <a:off x="7955279" y="4846320"/>
            <a:ext cx="2240280" cy="420624"/>
          </a:xfrm>
          <a:prstGeom prst="roundRect">
            <a:avLst>
              <a:gd name="adj" fmla="val 30000"/>
            </a:avLst>
          </a:prstGeom>
          <a:solidFill>
            <a:srgbClr val="1628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79" y="4919472"/>
            <a:ext cx="2240280" cy="292608"/>
          </a:xfrm>
          <a:prstGeom prst="rect">
            <a:avLst/>
          </a:prstGeom>
          <a:noFill/>
        </p:spPr>
        <p:txBody>
          <a:bodyPr wrap="square" lIns="0" rIns="0" tIns="0" bIns="0" anchor="t"/>
          <a:lstStyle/>
          <a:p>
            <a:pPr algn="ctr">
              <a:spcBef>
                <a:spcPts val="0"/>
              </a:spcBef>
              <a:spcAft>
                <a:spcPts val="0"/>
              </a:spcAft>
            </a:pPr>
            <a:r>
              <a:rPr sz="1300" b="1" i="0">
                <a:solidFill>
                  <a:srgbClr val="FFFFFF"/>
                </a:solidFill>
                <a:latin typeface="Calibri"/>
              </a:rPr>
              <a:t>One client at a time</a:t>
            </a:r>
          </a:p>
        </p:txBody>
      </p:sp>
      <p:sp>
        <p:nvSpPr>
          <p:cNvPr id="20" name="TextBox 19"/>
          <p:cNvSpPr txBox="1"/>
          <p:nvPr/>
        </p:nvSpPr>
        <p:spPr>
          <a:xfrm>
            <a:off x="658368" y="5623560"/>
            <a:ext cx="5029200" cy="256032"/>
          </a:xfrm>
          <a:prstGeom prst="rect">
            <a:avLst/>
          </a:prstGeom>
          <a:noFill/>
        </p:spPr>
        <p:txBody>
          <a:bodyPr wrap="square" lIns="0" rIns="0" tIns="0" bIns="0" anchor="t"/>
          <a:lstStyle/>
          <a:p>
            <a:pPr algn="l">
              <a:spcBef>
                <a:spcPts val="0"/>
              </a:spcBef>
              <a:spcAft>
                <a:spcPts val="0"/>
              </a:spcAft>
            </a:pPr>
            <a:r>
              <a:rPr sz="1400" b="0" i="0">
                <a:solidFill>
                  <a:srgbClr val="9AB4A0"/>
                </a:solidFill>
                <a:latin typeface="Calibri"/>
              </a:rPr>
              <a:t>Prepared for  [Client name]</a:t>
            </a:r>
          </a:p>
        </p:txBody>
      </p:sp>
      <p:sp>
        <p:nvSpPr>
          <p:cNvPr id="21" name="TextBox 20"/>
          <p:cNvSpPr txBox="1"/>
          <p:nvPr/>
        </p:nvSpPr>
        <p:spPr>
          <a:xfrm>
            <a:off x="7498079" y="5623560"/>
            <a:ext cx="4023360" cy="256032"/>
          </a:xfrm>
          <a:prstGeom prst="rect">
            <a:avLst/>
          </a:prstGeom>
          <a:noFill/>
        </p:spPr>
        <p:txBody>
          <a:bodyPr wrap="square" lIns="0" rIns="0" tIns="0" bIns="0" anchor="t"/>
          <a:lstStyle/>
          <a:p>
            <a:pPr algn="r">
              <a:spcBef>
                <a:spcPts val="0"/>
              </a:spcBef>
              <a:spcAft>
                <a:spcPts val="0"/>
              </a:spcAft>
            </a:pPr>
            <a:r>
              <a:rPr sz="1400" b="0" i="0">
                <a:solidFill>
                  <a:srgbClr val="9AB4A0"/>
                </a:solidFill>
                <a:latin typeface="Calibri"/>
              </a:rPr>
              <a:t>[Presentation date]</a:t>
            </a:r>
          </a:p>
        </p:txBody>
      </p:sp>
      <p:sp>
        <p:nvSpPr>
          <p:cNvPr id="22" name="Rectangle 21"/>
          <p:cNvSpPr/>
          <p:nvPr/>
        </p:nvSpPr>
        <p:spPr>
          <a:xfrm>
            <a:off x="457200" y="6510528"/>
            <a:ext cx="11274552" cy="9144"/>
          </a:xfrm>
          <a:prstGeom prst="rect">
            <a:avLst/>
          </a:prstGeom>
          <a:solidFill>
            <a:srgbClr val="2A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565392"/>
            <a:ext cx="2011680" cy="237744"/>
          </a:xfrm>
          <a:prstGeom prst="rect">
            <a:avLst/>
          </a:prstGeom>
          <a:noFill/>
        </p:spPr>
        <p:txBody>
          <a:bodyPr wrap="square" lIns="0" rIns="0" tIns="0" bIns="0" anchor="t"/>
          <a:lstStyle/>
          <a:p>
            <a:pPr algn="l">
              <a:spcBef>
                <a:spcPts val="0"/>
              </a:spcBef>
              <a:spcAft>
                <a:spcPts val="0"/>
              </a:spcAft>
            </a:pPr>
            <a:r>
              <a:rPr sz="1000" b="1" i="0">
                <a:solidFill>
                  <a:srgbClr val="9AA8B0"/>
                </a:solidFill>
                <a:latin typeface="Calibri"/>
              </a:rPr>
              <a:t>ELECNOVATECH</a:t>
            </a:r>
          </a:p>
        </p:txBody>
      </p:sp>
      <p:sp>
        <p:nvSpPr>
          <p:cNvPr id="24" name="TextBox 23"/>
          <p:cNvSpPr txBox="1"/>
          <p:nvPr/>
        </p:nvSpPr>
        <p:spPr>
          <a:xfrm>
            <a:off x="2468880" y="6565392"/>
            <a:ext cx="5943600" cy="237744"/>
          </a:xfrm>
          <a:prstGeom prst="rect">
            <a:avLst/>
          </a:prstGeom>
          <a:noFill/>
        </p:spPr>
        <p:txBody>
          <a:bodyPr wrap="square" lIns="0" rIns="0" tIns="0" bIns="0" anchor="t"/>
          <a:lstStyle/>
          <a:p>
            <a:pPr algn="ctr">
              <a:spcBef>
                <a:spcPts val="0"/>
              </a:spcBef>
              <a:spcAft>
                <a:spcPts val="0"/>
              </a:spcAft>
            </a:pPr>
            <a:r>
              <a:rPr sz="1000" b="0" i="0">
                <a:solidFill>
                  <a:srgbClr val="9AA8B0"/>
                </a:solidFill>
                <a:latin typeface="Calibri"/>
              </a:rPr>
              <a:t>HYBRID  ·  Sales presentation</a:t>
            </a:r>
          </a:p>
        </p:txBody>
      </p:sp>
      <p:sp>
        <p:nvSpPr>
          <p:cNvPr id="25" name="TextBox 24"/>
          <p:cNvSpPr txBox="1"/>
          <p:nvPr/>
        </p:nvSpPr>
        <p:spPr>
          <a:xfrm>
            <a:off x="9509760" y="6565392"/>
            <a:ext cx="2221992" cy="237744"/>
          </a:xfrm>
          <a:prstGeom prst="rect">
            <a:avLst/>
          </a:prstGeom>
          <a:noFill/>
        </p:spPr>
        <p:txBody>
          <a:bodyPr wrap="square" lIns="0" rIns="0" tIns="0" bIns="0" anchor="t"/>
          <a:lstStyle/>
          <a:p>
            <a:pPr algn="r">
              <a:spcBef>
                <a:spcPts val="0"/>
              </a:spcBef>
              <a:spcAft>
                <a:spcPts val="0"/>
              </a:spcAft>
            </a:pPr>
            <a:r>
              <a:rPr sz="1000" b="1" i="0">
                <a:solidFill>
                  <a:srgbClr val="9AA8B0"/>
                </a:solidFill>
                <a:latin typeface="Calibri"/>
              </a:rPr>
              <a:t>01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19456"/>
          </a:xfrm>
          <a:prstGeom prst="rect">
            <a:avLst/>
          </a:prstGeom>
          <a:noFill/>
        </p:spPr>
        <p:txBody>
          <a:bodyPr wrap="square" lIns="0" rIns="0" tIns="0" bIns="0" anchor="t"/>
          <a:lstStyle/>
          <a:p>
            <a:pPr algn="l">
              <a:spcBef>
                <a:spcPts val="0"/>
              </a:spcBef>
              <a:spcAft>
                <a:spcPts val="0"/>
              </a:spcAft>
            </a:pPr>
            <a:r>
              <a:rPr sz="1100" b="1" i="0">
                <a:solidFill>
                  <a:srgbClr val="2D5A27"/>
                </a:solidFill>
                <a:latin typeface="Calibri"/>
              </a:rPr>
              <a:t>THE SITUATION</a:t>
            </a:r>
          </a:p>
        </p:txBody>
      </p:sp>
      <p:sp>
        <p:nvSpPr>
          <p:cNvPr id="4" name="TextBox 3"/>
          <p:cNvSpPr txBox="1"/>
          <p:nvPr/>
        </p:nvSpPr>
        <p:spPr>
          <a:xfrm>
            <a:off x="457200" y="475488"/>
            <a:ext cx="10972800" cy="502920"/>
          </a:xfrm>
          <a:prstGeom prst="rect">
            <a:avLst/>
          </a:prstGeom>
          <a:noFill/>
        </p:spPr>
        <p:txBody>
          <a:bodyPr wrap="square" lIns="0" rIns="0" tIns="0" bIns="0" anchor="t"/>
          <a:lstStyle/>
          <a:p>
            <a:pPr algn="l">
              <a:spcBef>
                <a:spcPts val="0"/>
              </a:spcBef>
              <a:spcAft>
                <a:spcPts val="0"/>
              </a:spcAft>
            </a:pPr>
            <a:r>
              <a:rPr sz="3000" b="1" i="0">
                <a:solidFill>
                  <a:srgbClr val="1A202C"/>
                </a:solidFill>
                <a:latin typeface="Calibri"/>
              </a:rPr>
              <a:t>The factory day is split across too many records.</a:t>
            </a:r>
          </a:p>
        </p:txBody>
      </p:sp>
      <p:sp>
        <p:nvSpPr>
          <p:cNvPr id="5" name="Rounded Rectangle 4"/>
          <p:cNvSpPr/>
          <p:nvPr/>
        </p:nvSpPr>
        <p:spPr>
          <a:xfrm>
            <a:off x="457200" y="1417320"/>
            <a:ext cx="5440680" cy="214884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17320"/>
            <a:ext cx="5440680" cy="54864"/>
          </a:xfrm>
          <a:prstGeom prst="rect">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673352"/>
            <a:ext cx="1005840" cy="365760"/>
          </a:xfrm>
          <a:prstGeom prst="rect">
            <a:avLst/>
          </a:prstGeom>
          <a:noFill/>
        </p:spPr>
        <p:txBody>
          <a:bodyPr wrap="square" lIns="0" rIns="0" tIns="0" bIns="0" anchor="t"/>
          <a:lstStyle/>
          <a:p>
            <a:pPr algn="l">
              <a:spcBef>
                <a:spcPts val="0"/>
              </a:spcBef>
              <a:spcAft>
                <a:spcPts val="0"/>
              </a:spcAft>
            </a:pPr>
            <a:r>
              <a:rPr sz="2000" b="1" i="0">
                <a:solidFill>
                  <a:srgbClr val="2D5A27"/>
                </a:solidFill>
                <a:latin typeface="Calibri"/>
              </a:rPr>
              <a:t>01</a:t>
            </a:r>
          </a:p>
        </p:txBody>
      </p:sp>
      <p:sp>
        <p:nvSpPr>
          <p:cNvPr id="8" name="TextBox 7"/>
          <p:cNvSpPr txBox="1"/>
          <p:nvPr/>
        </p:nvSpPr>
        <p:spPr>
          <a:xfrm>
            <a:off x="1645920" y="1691640"/>
            <a:ext cx="3840480" cy="347472"/>
          </a:xfrm>
          <a:prstGeom prst="rect">
            <a:avLst/>
          </a:prstGeom>
          <a:noFill/>
        </p:spPr>
        <p:txBody>
          <a:bodyPr wrap="square" lIns="0" rIns="0" tIns="0" bIns="0" anchor="t"/>
          <a:lstStyle/>
          <a:p>
            <a:pPr algn="l">
              <a:spcBef>
                <a:spcPts val="0"/>
              </a:spcBef>
              <a:spcAft>
                <a:spcPts val="0"/>
              </a:spcAft>
            </a:pPr>
            <a:r>
              <a:rPr sz="2000" b="1" i="0">
                <a:solidFill>
                  <a:srgbClr val="1A202C"/>
                </a:solidFill>
                <a:latin typeface="Calibri"/>
              </a:rPr>
              <a:t>Production</a:t>
            </a:r>
          </a:p>
        </p:txBody>
      </p:sp>
      <p:sp>
        <p:nvSpPr>
          <p:cNvPr id="9" name="TextBox 8"/>
          <p:cNvSpPr txBox="1"/>
          <p:nvPr/>
        </p:nvSpPr>
        <p:spPr>
          <a:xfrm>
            <a:off x="713232" y="2286000"/>
            <a:ext cx="4937760" cy="105156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Batch output, damage, and material use have to travel from the machine to someone who can trust the number.</a:t>
            </a:r>
          </a:p>
        </p:txBody>
      </p:sp>
      <p:sp>
        <p:nvSpPr>
          <p:cNvPr id="10" name="Rounded Rectangle 9"/>
          <p:cNvSpPr/>
          <p:nvPr/>
        </p:nvSpPr>
        <p:spPr>
          <a:xfrm>
            <a:off x="6309360" y="1417320"/>
            <a:ext cx="5440680" cy="214884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417320"/>
            <a:ext cx="5440680" cy="54864"/>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65392" y="1673352"/>
            <a:ext cx="1005840" cy="365760"/>
          </a:xfrm>
          <a:prstGeom prst="rect">
            <a:avLst/>
          </a:prstGeom>
          <a:noFill/>
        </p:spPr>
        <p:txBody>
          <a:bodyPr wrap="square" lIns="0" rIns="0" tIns="0" bIns="0" anchor="t"/>
          <a:lstStyle/>
          <a:p>
            <a:pPr algn="l">
              <a:spcBef>
                <a:spcPts val="0"/>
              </a:spcBef>
              <a:spcAft>
                <a:spcPts val="0"/>
              </a:spcAft>
            </a:pPr>
            <a:r>
              <a:rPr sz="2000" b="1" i="0">
                <a:solidFill>
                  <a:srgbClr val="2D5A27"/>
                </a:solidFill>
                <a:latin typeface="Calibri"/>
              </a:rPr>
              <a:t>02</a:t>
            </a:r>
          </a:p>
        </p:txBody>
      </p:sp>
      <p:sp>
        <p:nvSpPr>
          <p:cNvPr id="13" name="TextBox 12"/>
          <p:cNvSpPr txBox="1"/>
          <p:nvPr/>
        </p:nvSpPr>
        <p:spPr>
          <a:xfrm>
            <a:off x="7498080" y="1691640"/>
            <a:ext cx="3840480" cy="347472"/>
          </a:xfrm>
          <a:prstGeom prst="rect">
            <a:avLst/>
          </a:prstGeom>
          <a:noFill/>
        </p:spPr>
        <p:txBody>
          <a:bodyPr wrap="square" lIns="0" rIns="0" tIns="0" bIns="0" anchor="t"/>
          <a:lstStyle/>
          <a:p>
            <a:pPr algn="l">
              <a:spcBef>
                <a:spcPts val="0"/>
              </a:spcBef>
              <a:spcAft>
                <a:spcPts val="0"/>
              </a:spcAft>
            </a:pPr>
            <a:r>
              <a:rPr sz="2000" b="1" i="0">
                <a:solidFill>
                  <a:srgbClr val="1A202C"/>
                </a:solidFill>
                <a:latin typeface="Calibri"/>
              </a:rPr>
              <a:t>Stock</a:t>
            </a:r>
          </a:p>
        </p:txBody>
      </p:sp>
      <p:sp>
        <p:nvSpPr>
          <p:cNvPr id="14" name="TextBox 13"/>
          <p:cNvSpPr txBox="1"/>
          <p:nvPr/>
        </p:nvSpPr>
        <p:spPr>
          <a:xfrm>
            <a:off x="6565392" y="2286000"/>
            <a:ext cx="4937760" cy="105156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Cement, poliche, finished blocks, plastic input, and finished pellets each need a balance the yard and the office share.</a:t>
            </a:r>
          </a:p>
        </p:txBody>
      </p:sp>
      <p:sp>
        <p:nvSpPr>
          <p:cNvPr id="15" name="Rounded Rectangle 14"/>
          <p:cNvSpPr/>
          <p:nvPr/>
        </p:nvSpPr>
        <p:spPr>
          <a:xfrm>
            <a:off x="457200" y="3794760"/>
            <a:ext cx="5440680" cy="214884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794760"/>
            <a:ext cx="5440680" cy="54864"/>
          </a:xfrm>
          <a:prstGeom prst="rect">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4050792"/>
            <a:ext cx="1005840" cy="365760"/>
          </a:xfrm>
          <a:prstGeom prst="rect">
            <a:avLst/>
          </a:prstGeom>
          <a:noFill/>
        </p:spPr>
        <p:txBody>
          <a:bodyPr wrap="square" lIns="0" rIns="0" tIns="0" bIns="0" anchor="t"/>
          <a:lstStyle/>
          <a:p>
            <a:pPr algn="l">
              <a:spcBef>
                <a:spcPts val="0"/>
              </a:spcBef>
              <a:spcAft>
                <a:spcPts val="0"/>
              </a:spcAft>
            </a:pPr>
            <a:r>
              <a:rPr sz="2000" b="1" i="0">
                <a:solidFill>
                  <a:srgbClr val="2D5A27"/>
                </a:solidFill>
                <a:latin typeface="Calibri"/>
              </a:rPr>
              <a:t>03</a:t>
            </a:r>
          </a:p>
        </p:txBody>
      </p:sp>
      <p:sp>
        <p:nvSpPr>
          <p:cNvPr id="18" name="TextBox 17"/>
          <p:cNvSpPr txBox="1"/>
          <p:nvPr/>
        </p:nvSpPr>
        <p:spPr>
          <a:xfrm>
            <a:off x="1645920" y="4069080"/>
            <a:ext cx="3840480" cy="347472"/>
          </a:xfrm>
          <a:prstGeom prst="rect">
            <a:avLst/>
          </a:prstGeom>
          <a:noFill/>
        </p:spPr>
        <p:txBody>
          <a:bodyPr wrap="square" lIns="0" rIns="0" tIns="0" bIns="0" anchor="t"/>
          <a:lstStyle/>
          <a:p>
            <a:pPr algn="l">
              <a:spcBef>
                <a:spcPts val="0"/>
              </a:spcBef>
              <a:spcAft>
                <a:spcPts val="0"/>
              </a:spcAft>
            </a:pPr>
            <a:r>
              <a:rPr sz="2000" b="1" i="0">
                <a:solidFill>
                  <a:srgbClr val="1A202C"/>
                </a:solidFill>
                <a:latin typeface="Calibri"/>
              </a:rPr>
              <a:t>Credit</a:t>
            </a:r>
          </a:p>
        </p:txBody>
      </p:sp>
      <p:sp>
        <p:nvSpPr>
          <p:cNvPr id="19" name="TextBox 18"/>
          <p:cNvSpPr txBox="1"/>
          <p:nvPr/>
        </p:nvSpPr>
        <p:spPr>
          <a:xfrm>
            <a:off x="713232" y="4663440"/>
            <a:ext cx="4937760" cy="105156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A load can leave before finance can see what that customer still owes, including withholding and earlier payments.</a:t>
            </a:r>
          </a:p>
        </p:txBody>
      </p:sp>
      <p:sp>
        <p:nvSpPr>
          <p:cNvPr id="20" name="Rounded Rectangle 19"/>
          <p:cNvSpPr/>
          <p:nvPr/>
        </p:nvSpPr>
        <p:spPr>
          <a:xfrm>
            <a:off x="6309360" y="3794760"/>
            <a:ext cx="5440680" cy="214884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3794760"/>
            <a:ext cx="5440680" cy="54864"/>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65392" y="4050792"/>
            <a:ext cx="1005840" cy="365760"/>
          </a:xfrm>
          <a:prstGeom prst="rect">
            <a:avLst/>
          </a:prstGeom>
          <a:noFill/>
        </p:spPr>
        <p:txBody>
          <a:bodyPr wrap="square" lIns="0" rIns="0" tIns="0" bIns="0" anchor="t"/>
          <a:lstStyle/>
          <a:p>
            <a:pPr algn="l">
              <a:spcBef>
                <a:spcPts val="0"/>
              </a:spcBef>
              <a:spcAft>
                <a:spcPts val="0"/>
              </a:spcAft>
            </a:pPr>
            <a:r>
              <a:rPr sz="2000" b="1" i="0">
                <a:solidFill>
                  <a:srgbClr val="2D5A27"/>
                </a:solidFill>
                <a:latin typeface="Calibri"/>
              </a:rPr>
              <a:t>04</a:t>
            </a:r>
          </a:p>
        </p:txBody>
      </p:sp>
      <p:sp>
        <p:nvSpPr>
          <p:cNvPr id="23" name="TextBox 22"/>
          <p:cNvSpPr txBox="1"/>
          <p:nvPr/>
        </p:nvSpPr>
        <p:spPr>
          <a:xfrm>
            <a:off x="7498080" y="4069080"/>
            <a:ext cx="3840480" cy="347472"/>
          </a:xfrm>
          <a:prstGeom prst="rect">
            <a:avLst/>
          </a:prstGeom>
          <a:noFill/>
        </p:spPr>
        <p:txBody>
          <a:bodyPr wrap="square" lIns="0" rIns="0" tIns="0" bIns="0" anchor="t"/>
          <a:lstStyle/>
          <a:p>
            <a:pPr algn="l">
              <a:spcBef>
                <a:spcPts val="0"/>
              </a:spcBef>
              <a:spcAft>
                <a:spcPts val="0"/>
              </a:spcAft>
            </a:pPr>
            <a:r>
              <a:rPr sz="2000" b="1" i="0">
                <a:solidFill>
                  <a:srgbClr val="1A202C"/>
                </a:solidFill>
                <a:latin typeface="Calibri"/>
              </a:rPr>
              <a:t>The books</a:t>
            </a:r>
          </a:p>
        </p:txBody>
      </p:sp>
      <p:sp>
        <p:nvSpPr>
          <p:cNvPr id="24" name="TextBox 23"/>
          <p:cNvSpPr txBox="1"/>
          <p:nvPr/>
        </p:nvSpPr>
        <p:spPr>
          <a:xfrm>
            <a:off x="6565392" y="4663440"/>
            <a:ext cx="4937760" cy="105156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Many plants already keep accounts in Sage 50. The factory record still has to be compared with those books.</a:t>
            </a:r>
          </a:p>
        </p:txBody>
      </p:sp>
      <p:sp>
        <p:nvSpPr>
          <p:cNvPr id="25" name="Rectangle 24"/>
          <p:cNvSpPr/>
          <p:nvPr/>
        </p:nvSpPr>
        <p:spPr>
          <a:xfrm>
            <a:off x="457200" y="6510528"/>
            <a:ext cx="11274552" cy="9144"/>
          </a:xfrm>
          <a:prstGeom prst="rect">
            <a:avLst/>
          </a:prstGeom>
          <a:solidFill>
            <a:srgbClr val="E1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565392"/>
            <a:ext cx="2011680" cy="237744"/>
          </a:xfrm>
          <a:prstGeom prst="rect">
            <a:avLst/>
          </a:prstGeom>
          <a:noFill/>
        </p:spPr>
        <p:txBody>
          <a:bodyPr wrap="square" lIns="0" rIns="0" tIns="0" bIns="0" anchor="t"/>
          <a:lstStyle/>
          <a:p>
            <a:pPr algn="l">
              <a:spcBef>
                <a:spcPts val="0"/>
              </a:spcBef>
              <a:spcAft>
                <a:spcPts val="0"/>
              </a:spcAft>
            </a:pPr>
            <a:r>
              <a:rPr sz="1000" b="1" i="0">
                <a:solidFill>
                  <a:srgbClr val="5C6B73"/>
                </a:solidFill>
                <a:latin typeface="Calibri"/>
              </a:rPr>
              <a:t>ELECNOVATECH</a:t>
            </a:r>
          </a:p>
        </p:txBody>
      </p:sp>
      <p:sp>
        <p:nvSpPr>
          <p:cNvPr id="27" name="TextBox 26"/>
          <p:cNvSpPr txBox="1"/>
          <p:nvPr/>
        </p:nvSpPr>
        <p:spPr>
          <a:xfrm>
            <a:off x="2468880" y="6565392"/>
            <a:ext cx="5943600" cy="237744"/>
          </a:xfrm>
          <a:prstGeom prst="rect">
            <a:avLst/>
          </a:prstGeom>
          <a:noFill/>
        </p:spPr>
        <p:txBody>
          <a:bodyPr wrap="square" lIns="0" rIns="0" tIns="0" bIns="0" anchor="t"/>
          <a:lstStyle/>
          <a:p>
            <a:pPr algn="ctr">
              <a:spcBef>
                <a:spcPts val="0"/>
              </a:spcBef>
              <a:spcAft>
                <a:spcPts val="0"/>
              </a:spcAft>
            </a:pPr>
            <a:r>
              <a:rPr sz="1000" b="0" i="0">
                <a:solidFill>
                  <a:srgbClr val="5C6B73"/>
                </a:solidFill>
                <a:latin typeface="Calibri"/>
              </a:rPr>
              <a:t>HYBRID  ·  Sales presentation</a:t>
            </a:r>
          </a:p>
        </p:txBody>
      </p:sp>
      <p:sp>
        <p:nvSpPr>
          <p:cNvPr id="28" name="TextBox 27"/>
          <p:cNvSpPr txBox="1"/>
          <p:nvPr/>
        </p:nvSpPr>
        <p:spPr>
          <a:xfrm>
            <a:off x="9509760" y="6565392"/>
            <a:ext cx="2221992" cy="237744"/>
          </a:xfrm>
          <a:prstGeom prst="rect">
            <a:avLst/>
          </a:prstGeom>
          <a:noFill/>
        </p:spPr>
        <p:txBody>
          <a:bodyPr wrap="square" lIns="0" rIns="0" tIns="0" bIns="0" anchor="t"/>
          <a:lstStyle/>
          <a:p>
            <a:pPr algn="r">
              <a:spcBef>
                <a:spcPts val="0"/>
              </a:spcBef>
              <a:spcAft>
                <a:spcPts val="0"/>
              </a:spcAft>
            </a:pPr>
            <a:r>
              <a:rPr sz="1000" b="1" i="0">
                <a:solidFill>
                  <a:srgbClr val="5C6B73"/>
                </a:solidFill>
                <a:latin typeface="Calibri"/>
              </a:rPr>
              <a:t>02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19456"/>
          </a:xfrm>
          <a:prstGeom prst="rect">
            <a:avLst/>
          </a:prstGeom>
          <a:noFill/>
        </p:spPr>
        <p:txBody>
          <a:bodyPr wrap="square" lIns="0" rIns="0" tIns="0" bIns="0" anchor="t"/>
          <a:lstStyle/>
          <a:p>
            <a:pPr algn="l">
              <a:spcBef>
                <a:spcPts val="0"/>
              </a:spcBef>
              <a:spcAft>
                <a:spcPts val="0"/>
              </a:spcAft>
            </a:pPr>
            <a:r>
              <a:rPr sz="1100" b="1" i="0">
                <a:solidFill>
                  <a:srgbClr val="2D5A27"/>
                </a:solidFill>
                <a:latin typeface="Calibri"/>
              </a:rPr>
              <a:t>WHO IT IS FOR</a:t>
            </a:r>
          </a:p>
        </p:txBody>
      </p:sp>
      <p:sp>
        <p:nvSpPr>
          <p:cNvPr id="4" name="TextBox 3"/>
          <p:cNvSpPr txBox="1"/>
          <p:nvPr/>
        </p:nvSpPr>
        <p:spPr>
          <a:xfrm>
            <a:off x="457200" y="475488"/>
            <a:ext cx="10972800" cy="502920"/>
          </a:xfrm>
          <a:prstGeom prst="rect">
            <a:avLst/>
          </a:prstGeom>
          <a:noFill/>
        </p:spPr>
        <p:txBody>
          <a:bodyPr wrap="square" lIns="0" rIns="0" tIns="0" bIns="0" anchor="t"/>
          <a:lstStyle/>
          <a:p>
            <a:pPr algn="l">
              <a:spcBef>
                <a:spcPts val="0"/>
              </a:spcBef>
              <a:spcAft>
                <a:spcPts val="0"/>
              </a:spcAft>
            </a:pPr>
            <a:r>
              <a:rPr sz="3000" b="1" i="0">
                <a:solidFill>
                  <a:srgbClr val="1A202C"/>
                </a:solidFill>
                <a:latin typeface="Calibri"/>
              </a:rPr>
              <a:t>A fit when the work looks like this.</a:t>
            </a:r>
          </a:p>
        </p:txBody>
      </p:sp>
      <p:sp>
        <p:nvSpPr>
          <p:cNvPr id="5" name="Rounded Rectangle 4"/>
          <p:cNvSpPr/>
          <p:nvPr/>
        </p:nvSpPr>
        <p:spPr>
          <a:xfrm>
            <a:off x="457200" y="1371600"/>
            <a:ext cx="11274552" cy="109728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71600"/>
            <a:ext cx="91440" cy="1097280"/>
          </a:xfrm>
          <a:prstGeom prst="rect">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36192"/>
            <a:ext cx="2834640" cy="768096"/>
          </a:xfrm>
          <a:prstGeom prst="rect">
            <a:avLst/>
          </a:prstGeom>
          <a:noFill/>
        </p:spPr>
        <p:txBody>
          <a:bodyPr wrap="square" lIns="0" rIns="0" tIns="0" bIns="0" anchor="ctr"/>
          <a:lstStyle/>
          <a:p>
            <a:pPr algn="l">
              <a:spcBef>
                <a:spcPts val="0"/>
              </a:spcBef>
              <a:spcAft>
                <a:spcPts val="0"/>
              </a:spcAft>
            </a:pPr>
            <a:r>
              <a:rPr sz="1800" b="1" i="0">
                <a:solidFill>
                  <a:srgbClr val="1A202C"/>
                </a:solidFill>
                <a:latin typeface="Calibri"/>
              </a:rPr>
              <a:t>Block plant</a:t>
            </a:r>
          </a:p>
        </p:txBody>
      </p:sp>
      <p:sp>
        <p:nvSpPr>
          <p:cNvPr id="8" name="TextBox 7"/>
          <p:cNvSpPr txBox="1"/>
          <p:nvPr/>
        </p:nvSpPr>
        <p:spPr>
          <a:xfrm>
            <a:off x="3749039" y="1536192"/>
            <a:ext cx="7680960" cy="768096"/>
          </a:xfrm>
          <a:prstGeom prst="rect">
            <a:avLst/>
          </a:prstGeom>
          <a:noFill/>
        </p:spPr>
        <p:txBody>
          <a:bodyPr wrap="square" lIns="0" rIns="0" tIns="0" bIns="0" anchor="ctr"/>
          <a:lstStyle/>
          <a:p>
            <a:pPr algn="l">
              <a:spcBef>
                <a:spcPts val="0"/>
              </a:spcBef>
              <a:spcAft>
                <a:spcPts val="0"/>
              </a:spcAft>
            </a:pPr>
            <a:r>
              <a:rPr sz="1600" b="0" i="0">
                <a:solidFill>
                  <a:srgbClr val="3D4A57"/>
                </a:solidFill>
                <a:latin typeface="Calibri"/>
              </a:rPr>
              <a:t>You make concrete blocks, track cement and poliche, and sell finished sizes.</a:t>
            </a:r>
          </a:p>
        </p:txBody>
      </p:sp>
      <p:sp>
        <p:nvSpPr>
          <p:cNvPr id="9" name="Rounded Rectangle 8"/>
          <p:cNvSpPr/>
          <p:nvPr/>
        </p:nvSpPr>
        <p:spPr>
          <a:xfrm>
            <a:off x="457200" y="2578608"/>
            <a:ext cx="11274552" cy="109728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578608"/>
            <a:ext cx="91440" cy="109728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743200"/>
            <a:ext cx="2834640" cy="768096"/>
          </a:xfrm>
          <a:prstGeom prst="rect">
            <a:avLst/>
          </a:prstGeom>
          <a:noFill/>
        </p:spPr>
        <p:txBody>
          <a:bodyPr wrap="square" lIns="0" rIns="0" tIns="0" bIns="0" anchor="ctr"/>
          <a:lstStyle/>
          <a:p>
            <a:pPr algn="l">
              <a:spcBef>
                <a:spcPts val="0"/>
              </a:spcBef>
              <a:spcAft>
                <a:spcPts val="0"/>
              </a:spcAft>
            </a:pPr>
            <a:r>
              <a:rPr sz="1800" b="1" i="0">
                <a:solidFill>
                  <a:srgbClr val="1A202C"/>
                </a:solidFill>
                <a:latin typeface="Calibri"/>
              </a:rPr>
              <a:t>Recycling plant</a:t>
            </a:r>
          </a:p>
        </p:txBody>
      </p:sp>
      <p:sp>
        <p:nvSpPr>
          <p:cNvPr id="12" name="TextBox 11"/>
          <p:cNvSpPr txBox="1"/>
          <p:nvPr/>
        </p:nvSpPr>
        <p:spPr>
          <a:xfrm>
            <a:off x="3749039" y="2743200"/>
            <a:ext cx="7680960" cy="768096"/>
          </a:xfrm>
          <a:prstGeom prst="rect">
            <a:avLst/>
          </a:prstGeom>
          <a:noFill/>
        </p:spPr>
        <p:txBody>
          <a:bodyPr wrap="square" lIns="0" rIns="0" tIns="0" bIns="0" anchor="ctr"/>
          <a:lstStyle/>
          <a:p>
            <a:pPr algn="l">
              <a:spcBef>
                <a:spcPts val="0"/>
              </a:spcBef>
              <a:spcAft>
                <a:spcPts val="0"/>
              </a:spcAft>
            </a:pPr>
            <a:r>
              <a:rPr sz="1600" b="0" i="0">
                <a:solidFill>
                  <a:srgbClr val="3D4A57"/>
                </a:solidFill>
                <a:latin typeface="Calibri"/>
              </a:rPr>
              <a:t>You receive plastic, record processed output and waste in kilograms, and sell the result.</a:t>
            </a:r>
          </a:p>
        </p:txBody>
      </p:sp>
      <p:sp>
        <p:nvSpPr>
          <p:cNvPr id="13" name="Rounded Rectangle 12"/>
          <p:cNvSpPr/>
          <p:nvPr/>
        </p:nvSpPr>
        <p:spPr>
          <a:xfrm>
            <a:off x="457200" y="3785616"/>
            <a:ext cx="11274552" cy="109728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785616"/>
            <a:ext cx="91440" cy="1097280"/>
          </a:xfrm>
          <a:prstGeom prst="rect">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950208"/>
            <a:ext cx="2834640" cy="768096"/>
          </a:xfrm>
          <a:prstGeom prst="rect">
            <a:avLst/>
          </a:prstGeom>
          <a:noFill/>
        </p:spPr>
        <p:txBody>
          <a:bodyPr wrap="square" lIns="0" rIns="0" tIns="0" bIns="0" anchor="ctr"/>
          <a:lstStyle/>
          <a:p>
            <a:pPr algn="l">
              <a:spcBef>
                <a:spcPts val="0"/>
              </a:spcBef>
              <a:spcAft>
                <a:spcPts val="0"/>
              </a:spcAft>
            </a:pPr>
            <a:r>
              <a:rPr sz="1800" b="1" i="0">
                <a:solidFill>
                  <a:srgbClr val="1A202C"/>
                </a:solidFill>
                <a:latin typeface="Calibri"/>
              </a:rPr>
              <a:t>Both sites</a:t>
            </a:r>
          </a:p>
        </p:txBody>
      </p:sp>
      <p:sp>
        <p:nvSpPr>
          <p:cNvPr id="16" name="TextBox 15"/>
          <p:cNvSpPr txBox="1"/>
          <p:nvPr/>
        </p:nvSpPr>
        <p:spPr>
          <a:xfrm>
            <a:off x="3749039" y="3950208"/>
            <a:ext cx="7680960" cy="768096"/>
          </a:xfrm>
          <a:prstGeom prst="rect">
            <a:avLst/>
          </a:prstGeom>
          <a:noFill/>
        </p:spPr>
        <p:txBody>
          <a:bodyPr wrap="square" lIns="0" rIns="0" tIns="0" bIns="0" anchor="ctr"/>
          <a:lstStyle/>
          <a:p>
            <a:pPr algn="l">
              <a:spcBef>
                <a:spcPts val="0"/>
              </a:spcBef>
              <a:spcAft>
                <a:spcPts val="0"/>
              </a:spcAft>
            </a:pPr>
            <a:r>
              <a:rPr sz="1600" b="0" i="0">
                <a:solidFill>
                  <a:srgbClr val="3D4A57"/>
                </a:solidFill>
                <a:latin typeface="Calibri"/>
              </a:rPr>
              <a:t>You want one set of customers, suppliers, banks, and books, with a separate view for each site.</a:t>
            </a:r>
          </a:p>
        </p:txBody>
      </p:sp>
      <p:sp>
        <p:nvSpPr>
          <p:cNvPr id="17" name="Rounded Rectangle 16"/>
          <p:cNvSpPr/>
          <p:nvPr/>
        </p:nvSpPr>
        <p:spPr>
          <a:xfrm>
            <a:off x="457200" y="4992624"/>
            <a:ext cx="11274552" cy="109728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992624"/>
            <a:ext cx="91440" cy="109728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57216"/>
            <a:ext cx="2834640" cy="768096"/>
          </a:xfrm>
          <a:prstGeom prst="rect">
            <a:avLst/>
          </a:prstGeom>
          <a:noFill/>
        </p:spPr>
        <p:txBody>
          <a:bodyPr wrap="square" lIns="0" rIns="0" tIns="0" bIns="0" anchor="ctr"/>
          <a:lstStyle/>
          <a:p>
            <a:pPr algn="l">
              <a:spcBef>
                <a:spcPts val="0"/>
              </a:spcBef>
              <a:spcAft>
                <a:spcPts val="0"/>
              </a:spcAft>
            </a:pPr>
            <a:r>
              <a:rPr sz="1800" b="1" i="0">
                <a:solidFill>
                  <a:srgbClr val="1A202C"/>
                </a:solidFill>
                <a:latin typeface="Calibri"/>
              </a:rPr>
              <a:t>Real job split</a:t>
            </a:r>
          </a:p>
        </p:txBody>
      </p:sp>
      <p:sp>
        <p:nvSpPr>
          <p:cNvPr id="20" name="TextBox 19"/>
          <p:cNvSpPr txBox="1"/>
          <p:nvPr/>
        </p:nvSpPr>
        <p:spPr>
          <a:xfrm>
            <a:off x="3749039" y="5157216"/>
            <a:ext cx="7680960" cy="768096"/>
          </a:xfrm>
          <a:prstGeom prst="rect">
            <a:avLst/>
          </a:prstGeom>
          <a:noFill/>
        </p:spPr>
        <p:txBody>
          <a:bodyPr wrap="square" lIns="0" rIns="0" tIns="0" bIns="0" anchor="ctr"/>
          <a:lstStyle/>
          <a:p>
            <a:pPr algn="l">
              <a:spcBef>
                <a:spcPts val="0"/>
              </a:spcBef>
              <a:spcAft>
                <a:spcPts val="0"/>
              </a:spcAft>
            </a:pPr>
            <a:r>
              <a:rPr sz="1600" b="0" i="0">
                <a:solidFill>
                  <a:srgbClr val="3D4A57"/>
                </a:solidFill>
                <a:latin typeface="Calibri"/>
              </a:rPr>
              <a:t>Owner, finance, factory, warehouse, sales, HR, floor, and driver do not all need the same screen.</a:t>
            </a:r>
          </a:p>
        </p:txBody>
      </p:sp>
      <p:sp>
        <p:nvSpPr>
          <p:cNvPr id="21" name="Rectangle 20"/>
          <p:cNvSpPr/>
          <p:nvPr/>
        </p:nvSpPr>
        <p:spPr>
          <a:xfrm>
            <a:off x="457200" y="6510528"/>
            <a:ext cx="11274552" cy="9144"/>
          </a:xfrm>
          <a:prstGeom prst="rect">
            <a:avLst/>
          </a:prstGeom>
          <a:solidFill>
            <a:srgbClr val="E1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6565392"/>
            <a:ext cx="2011680" cy="237744"/>
          </a:xfrm>
          <a:prstGeom prst="rect">
            <a:avLst/>
          </a:prstGeom>
          <a:noFill/>
        </p:spPr>
        <p:txBody>
          <a:bodyPr wrap="square" lIns="0" rIns="0" tIns="0" bIns="0" anchor="t"/>
          <a:lstStyle/>
          <a:p>
            <a:pPr algn="l">
              <a:spcBef>
                <a:spcPts val="0"/>
              </a:spcBef>
              <a:spcAft>
                <a:spcPts val="0"/>
              </a:spcAft>
            </a:pPr>
            <a:r>
              <a:rPr sz="1000" b="1" i="0">
                <a:solidFill>
                  <a:srgbClr val="5C6B73"/>
                </a:solidFill>
                <a:latin typeface="Calibri"/>
              </a:rPr>
              <a:t>ELECNOVATECH</a:t>
            </a:r>
          </a:p>
        </p:txBody>
      </p:sp>
      <p:sp>
        <p:nvSpPr>
          <p:cNvPr id="23" name="TextBox 22"/>
          <p:cNvSpPr txBox="1"/>
          <p:nvPr/>
        </p:nvSpPr>
        <p:spPr>
          <a:xfrm>
            <a:off x="2468880" y="6565392"/>
            <a:ext cx="5943600" cy="237744"/>
          </a:xfrm>
          <a:prstGeom prst="rect">
            <a:avLst/>
          </a:prstGeom>
          <a:noFill/>
        </p:spPr>
        <p:txBody>
          <a:bodyPr wrap="square" lIns="0" rIns="0" tIns="0" bIns="0" anchor="t"/>
          <a:lstStyle/>
          <a:p>
            <a:pPr algn="ctr">
              <a:spcBef>
                <a:spcPts val="0"/>
              </a:spcBef>
              <a:spcAft>
                <a:spcPts val="0"/>
              </a:spcAft>
            </a:pPr>
            <a:r>
              <a:rPr sz="1000" b="0" i="0">
                <a:solidFill>
                  <a:srgbClr val="5C6B73"/>
                </a:solidFill>
                <a:latin typeface="Calibri"/>
              </a:rPr>
              <a:t>HYBRID  ·  Sales presentation</a:t>
            </a:r>
          </a:p>
        </p:txBody>
      </p:sp>
      <p:sp>
        <p:nvSpPr>
          <p:cNvPr id="24" name="TextBox 23"/>
          <p:cNvSpPr txBox="1"/>
          <p:nvPr/>
        </p:nvSpPr>
        <p:spPr>
          <a:xfrm>
            <a:off x="9509760" y="6565392"/>
            <a:ext cx="2221992" cy="237744"/>
          </a:xfrm>
          <a:prstGeom prst="rect">
            <a:avLst/>
          </a:prstGeom>
          <a:noFill/>
        </p:spPr>
        <p:txBody>
          <a:bodyPr wrap="square" lIns="0" rIns="0" tIns="0" bIns="0" anchor="t"/>
          <a:lstStyle/>
          <a:p>
            <a:pPr algn="r">
              <a:spcBef>
                <a:spcPts val="0"/>
              </a:spcBef>
              <a:spcAft>
                <a:spcPts val="0"/>
              </a:spcAft>
            </a:pPr>
            <a:r>
              <a:rPr sz="1000" b="1" i="0">
                <a:solidFill>
                  <a:srgbClr val="5C6B73"/>
                </a:solidFill>
                <a:latin typeface="Calibri"/>
              </a:rPr>
              <a:t>03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19456"/>
          </a:xfrm>
          <a:prstGeom prst="rect">
            <a:avLst/>
          </a:prstGeom>
          <a:noFill/>
        </p:spPr>
        <p:txBody>
          <a:bodyPr wrap="square" lIns="0" rIns="0" tIns="0" bIns="0" anchor="t"/>
          <a:lstStyle/>
          <a:p>
            <a:pPr algn="l">
              <a:spcBef>
                <a:spcPts val="0"/>
              </a:spcBef>
              <a:spcAft>
                <a:spcPts val="0"/>
              </a:spcAft>
            </a:pPr>
            <a:r>
              <a:rPr sz="1100" b="1" i="0">
                <a:solidFill>
                  <a:srgbClr val="2D5A27"/>
                </a:solidFill>
                <a:latin typeface="Calibri"/>
              </a:rPr>
              <a:t>WHAT CHANGES AT WORK</a:t>
            </a:r>
          </a:p>
        </p:txBody>
      </p:sp>
      <p:sp>
        <p:nvSpPr>
          <p:cNvPr id="4" name="TextBox 3"/>
          <p:cNvSpPr txBox="1"/>
          <p:nvPr/>
        </p:nvSpPr>
        <p:spPr>
          <a:xfrm>
            <a:off x="457200" y="475488"/>
            <a:ext cx="10972800" cy="502920"/>
          </a:xfrm>
          <a:prstGeom prst="rect">
            <a:avLst/>
          </a:prstGeom>
          <a:noFill/>
        </p:spPr>
        <p:txBody>
          <a:bodyPr wrap="square" lIns="0" rIns="0" tIns="0" bIns="0" anchor="t"/>
          <a:lstStyle/>
          <a:p>
            <a:pPr algn="l">
              <a:spcBef>
                <a:spcPts val="0"/>
              </a:spcBef>
              <a:spcAft>
                <a:spcPts val="0"/>
              </a:spcAft>
            </a:pPr>
            <a:r>
              <a:rPr sz="3000" b="1" i="0">
                <a:solidFill>
                  <a:srgbClr val="1A202C"/>
                </a:solidFill>
                <a:latin typeface="Calibri"/>
              </a:rPr>
              <a:t>Each role keeps the part of the day it owns.</a:t>
            </a:r>
          </a:p>
        </p:txBody>
      </p:sp>
      <p:sp>
        <p:nvSpPr>
          <p:cNvPr id="5" name="Rounded Rectangle 4"/>
          <p:cNvSpPr/>
          <p:nvPr/>
        </p:nvSpPr>
        <p:spPr>
          <a:xfrm>
            <a:off x="457200" y="1371600"/>
            <a:ext cx="5440680" cy="219456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627632"/>
            <a:ext cx="73152" cy="384048"/>
          </a:xfrm>
          <a:prstGeom prst="rect">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09344"/>
            <a:ext cx="4846320" cy="384048"/>
          </a:xfrm>
          <a:prstGeom prst="rect">
            <a:avLst/>
          </a:prstGeom>
          <a:noFill/>
        </p:spPr>
        <p:txBody>
          <a:bodyPr wrap="square" lIns="0" rIns="0" tIns="0" bIns="0" anchor="t"/>
          <a:lstStyle/>
          <a:p>
            <a:pPr algn="l">
              <a:spcBef>
                <a:spcPts val="0"/>
              </a:spcBef>
              <a:spcAft>
                <a:spcPts val="0"/>
              </a:spcAft>
            </a:pPr>
            <a:r>
              <a:rPr sz="2000" b="1" i="0">
                <a:solidFill>
                  <a:srgbClr val="1A202C"/>
                </a:solidFill>
                <a:latin typeface="Calibri"/>
              </a:rPr>
              <a:t>Owner</a:t>
            </a:r>
          </a:p>
        </p:txBody>
      </p:sp>
      <p:sp>
        <p:nvSpPr>
          <p:cNvPr id="8" name="TextBox 7"/>
          <p:cNvSpPr txBox="1"/>
          <p:nvPr/>
        </p:nvSpPr>
        <p:spPr>
          <a:xfrm>
            <a:off x="749808" y="2148840"/>
            <a:ext cx="4846320" cy="118872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Switch between the company, the block plant, and the recycling plant. See orders, credit, and output without collecting separate files.</a:t>
            </a:r>
          </a:p>
        </p:txBody>
      </p:sp>
      <p:sp>
        <p:nvSpPr>
          <p:cNvPr id="9" name="Rounded Rectangle 8"/>
          <p:cNvSpPr/>
          <p:nvPr/>
        </p:nvSpPr>
        <p:spPr>
          <a:xfrm>
            <a:off x="6309360" y="1371600"/>
            <a:ext cx="5440680" cy="219456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627632"/>
            <a:ext cx="73152" cy="384048"/>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1968" y="1609344"/>
            <a:ext cx="4846320" cy="384048"/>
          </a:xfrm>
          <a:prstGeom prst="rect">
            <a:avLst/>
          </a:prstGeom>
          <a:noFill/>
        </p:spPr>
        <p:txBody>
          <a:bodyPr wrap="square" lIns="0" rIns="0" tIns="0" bIns="0" anchor="t"/>
          <a:lstStyle/>
          <a:p>
            <a:pPr algn="l">
              <a:spcBef>
                <a:spcPts val="0"/>
              </a:spcBef>
              <a:spcAft>
                <a:spcPts val="0"/>
              </a:spcAft>
            </a:pPr>
            <a:r>
              <a:rPr sz="2000" b="1" i="0">
                <a:solidFill>
                  <a:srgbClr val="1A202C"/>
                </a:solidFill>
                <a:latin typeface="Calibri"/>
              </a:rPr>
              <a:t>Finance</a:t>
            </a:r>
          </a:p>
        </p:txBody>
      </p:sp>
      <p:sp>
        <p:nvSpPr>
          <p:cNvPr id="12" name="TextBox 11"/>
          <p:cNvSpPr txBox="1"/>
          <p:nvPr/>
        </p:nvSpPr>
        <p:spPr>
          <a:xfrm>
            <a:off x="6601968" y="2148840"/>
            <a:ext cx="4846320" cy="118872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Statements, aging, payments, expenses, and a workspace that compares factory amounts with Sage 50.</a:t>
            </a:r>
          </a:p>
        </p:txBody>
      </p:sp>
      <p:sp>
        <p:nvSpPr>
          <p:cNvPr id="13" name="Rounded Rectangle 12"/>
          <p:cNvSpPr/>
          <p:nvPr/>
        </p:nvSpPr>
        <p:spPr>
          <a:xfrm>
            <a:off x="457200" y="3794760"/>
            <a:ext cx="5440680" cy="219456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050792"/>
            <a:ext cx="73152" cy="384048"/>
          </a:xfrm>
          <a:prstGeom prst="rect">
            <a:avLst/>
          </a:prstGeom>
          <a:solidFill>
            <a:srgbClr val="2D5A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4032504"/>
            <a:ext cx="4846320" cy="384048"/>
          </a:xfrm>
          <a:prstGeom prst="rect">
            <a:avLst/>
          </a:prstGeom>
          <a:noFill/>
        </p:spPr>
        <p:txBody>
          <a:bodyPr wrap="square" lIns="0" rIns="0" tIns="0" bIns="0" anchor="t"/>
          <a:lstStyle/>
          <a:p>
            <a:pPr algn="l">
              <a:spcBef>
                <a:spcPts val="0"/>
              </a:spcBef>
              <a:spcAft>
                <a:spcPts val="0"/>
              </a:spcAft>
            </a:pPr>
            <a:r>
              <a:rPr sz="2000" b="1" i="0">
                <a:solidFill>
                  <a:srgbClr val="1A202C"/>
                </a:solidFill>
                <a:latin typeface="Calibri"/>
              </a:rPr>
              <a:t>Factory and warehouse</a:t>
            </a:r>
          </a:p>
        </p:txBody>
      </p:sp>
      <p:sp>
        <p:nvSpPr>
          <p:cNvPr id="16" name="TextBox 15"/>
          <p:cNvSpPr txBox="1"/>
          <p:nvPr/>
        </p:nvSpPr>
        <p:spPr>
          <a:xfrm>
            <a:off x="749808" y="4572000"/>
            <a:ext cx="4846320" cy="118872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Batches, daily targets, stock balances, physical counts, and how far current cement and poliche can go.</a:t>
            </a:r>
          </a:p>
        </p:txBody>
      </p:sp>
      <p:sp>
        <p:nvSpPr>
          <p:cNvPr id="17" name="Rounded Rectangle 16"/>
          <p:cNvSpPr/>
          <p:nvPr/>
        </p:nvSpPr>
        <p:spPr>
          <a:xfrm>
            <a:off x="6309360" y="3794760"/>
            <a:ext cx="5440680" cy="219456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4050792"/>
            <a:ext cx="73152" cy="384048"/>
          </a:xfrm>
          <a:prstGeom prst="rect">
            <a:avLst/>
          </a:prstGeom>
          <a:solidFill>
            <a:srgbClr val="005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01968" y="4032504"/>
            <a:ext cx="4846320" cy="384048"/>
          </a:xfrm>
          <a:prstGeom prst="rect">
            <a:avLst/>
          </a:prstGeom>
          <a:noFill/>
        </p:spPr>
        <p:txBody>
          <a:bodyPr wrap="square" lIns="0" rIns="0" tIns="0" bIns="0" anchor="t"/>
          <a:lstStyle/>
          <a:p>
            <a:pPr algn="l">
              <a:spcBef>
                <a:spcPts val="0"/>
              </a:spcBef>
              <a:spcAft>
                <a:spcPts val="0"/>
              </a:spcAft>
            </a:pPr>
            <a:r>
              <a:rPr sz="2000" b="1" i="0">
                <a:solidFill>
                  <a:srgbClr val="1A202C"/>
                </a:solidFill>
                <a:latin typeface="Calibri"/>
              </a:rPr>
              <a:t>Floor, drivers, HR</a:t>
            </a:r>
          </a:p>
        </p:txBody>
      </p:sp>
      <p:sp>
        <p:nvSpPr>
          <p:cNvPr id="20" name="TextBox 19"/>
          <p:cNvSpPr txBox="1"/>
          <p:nvPr/>
        </p:nvSpPr>
        <p:spPr>
          <a:xfrm>
            <a:off x="6601968" y="4572000"/>
            <a:ext cx="4846320" cy="118872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Floor staff and drivers get a short phone screen. HR runs attendance, leave, and payroll from rules the company sets.</a:t>
            </a:r>
          </a:p>
        </p:txBody>
      </p:sp>
      <p:sp>
        <p:nvSpPr>
          <p:cNvPr id="21" name="Rectangle 20"/>
          <p:cNvSpPr/>
          <p:nvPr/>
        </p:nvSpPr>
        <p:spPr>
          <a:xfrm>
            <a:off x="457200" y="6510528"/>
            <a:ext cx="11274552" cy="9144"/>
          </a:xfrm>
          <a:prstGeom prst="rect">
            <a:avLst/>
          </a:prstGeom>
          <a:solidFill>
            <a:srgbClr val="E1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6565392"/>
            <a:ext cx="2011680" cy="237744"/>
          </a:xfrm>
          <a:prstGeom prst="rect">
            <a:avLst/>
          </a:prstGeom>
          <a:noFill/>
        </p:spPr>
        <p:txBody>
          <a:bodyPr wrap="square" lIns="0" rIns="0" tIns="0" bIns="0" anchor="t"/>
          <a:lstStyle/>
          <a:p>
            <a:pPr algn="l">
              <a:spcBef>
                <a:spcPts val="0"/>
              </a:spcBef>
              <a:spcAft>
                <a:spcPts val="0"/>
              </a:spcAft>
            </a:pPr>
            <a:r>
              <a:rPr sz="1000" b="1" i="0">
                <a:solidFill>
                  <a:srgbClr val="5C6B73"/>
                </a:solidFill>
                <a:latin typeface="Calibri"/>
              </a:rPr>
              <a:t>ELECNOVATECH</a:t>
            </a:r>
          </a:p>
        </p:txBody>
      </p:sp>
      <p:sp>
        <p:nvSpPr>
          <p:cNvPr id="23" name="TextBox 22"/>
          <p:cNvSpPr txBox="1"/>
          <p:nvPr/>
        </p:nvSpPr>
        <p:spPr>
          <a:xfrm>
            <a:off x="2468880" y="6565392"/>
            <a:ext cx="5943600" cy="237744"/>
          </a:xfrm>
          <a:prstGeom prst="rect">
            <a:avLst/>
          </a:prstGeom>
          <a:noFill/>
        </p:spPr>
        <p:txBody>
          <a:bodyPr wrap="square" lIns="0" rIns="0" tIns="0" bIns="0" anchor="t"/>
          <a:lstStyle/>
          <a:p>
            <a:pPr algn="ctr">
              <a:spcBef>
                <a:spcPts val="0"/>
              </a:spcBef>
              <a:spcAft>
                <a:spcPts val="0"/>
              </a:spcAft>
            </a:pPr>
            <a:r>
              <a:rPr sz="1000" b="0" i="0">
                <a:solidFill>
                  <a:srgbClr val="5C6B73"/>
                </a:solidFill>
                <a:latin typeface="Calibri"/>
              </a:rPr>
              <a:t>HYBRID  ·  Sales presentation</a:t>
            </a:r>
          </a:p>
        </p:txBody>
      </p:sp>
      <p:sp>
        <p:nvSpPr>
          <p:cNvPr id="24" name="TextBox 23"/>
          <p:cNvSpPr txBox="1"/>
          <p:nvPr/>
        </p:nvSpPr>
        <p:spPr>
          <a:xfrm>
            <a:off x="9509760" y="6565392"/>
            <a:ext cx="2221992" cy="237744"/>
          </a:xfrm>
          <a:prstGeom prst="rect">
            <a:avLst/>
          </a:prstGeom>
          <a:noFill/>
        </p:spPr>
        <p:txBody>
          <a:bodyPr wrap="square" lIns="0" rIns="0" tIns="0" bIns="0" anchor="t"/>
          <a:lstStyle/>
          <a:p>
            <a:pPr algn="r">
              <a:spcBef>
                <a:spcPts val="0"/>
              </a:spcBef>
              <a:spcAft>
                <a:spcPts val="0"/>
              </a:spcAft>
            </a:pPr>
            <a:r>
              <a:rPr sz="1000" b="1" i="0">
                <a:solidFill>
                  <a:srgbClr val="5C6B73"/>
                </a:solidFill>
                <a:latin typeface="Calibri"/>
              </a:rPr>
              <a:t>04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19456"/>
          </a:xfrm>
          <a:prstGeom prst="rect">
            <a:avLst/>
          </a:prstGeom>
          <a:noFill/>
        </p:spPr>
        <p:txBody>
          <a:bodyPr wrap="square" lIns="0" rIns="0" tIns="0" bIns="0" anchor="t"/>
          <a:lstStyle/>
          <a:p>
            <a:pPr algn="l">
              <a:spcBef>
                <a:spcPts val="0"/>
              </a:spcBef>
              <a:spcAft>
                <a:spcPts val="0"/>
              </a:spcAft>
            </a:pPr>
            <a:r>
              <a:rPr sz="1100" b="1" i="0">
                <a:solidFill>
                  <a:srgbClr val="2D5A27"/>
                </a:solidFill>
                <a:latin typeface="Calibri"/>
              </a:rPr>
              <a:t>THE WORKING SURFACE</a:t>
            </a:r>
          </a:p>
        </p:txBody>
      </p:sp>
      <p:sp>
        <p:nvSpPr>
          <p:cNvPr id="4" name="TextBox 3"/>
          <p:cNvSpPr txBox="1"/>
          <p:nvPr/>
        </p:nvSpPr>
        <p:spPr>
          <a:xfrm>
            <a:off x="457200" y="475488"/>
            <a:ext cx="10972800" cy="502920"/>
          </a:xfrm>
          <a:prstGeom prst="rect">
            <a:avLst/>
          </a:prstGeom>
          <a:noFill/>
        </p:spPr>
        <p:txBody>
          <a:bodyPr wrap="square" lIns="0" rIns="0" tIns="0" bIns="0" anchor="t"/>
          <a:lstStyle/>
          <a:p>
            <a:pPr algn="l">
              <a:spcBef>
                <a:spcPts val="0"/>
              </a:spcBef>
              <a:spcAft>
                <a:spcPts val="0"/>
              </a:spcAft>
            </a:pPr>
            <a:r>
              <a:rPr sz="3000" b="1" i="0">
                <a:solidFill>
                  <a:srgbClr val="1A202C"/>
                </a:solidFill>
                <a:latin typeface="Calibri"/>
              </a:rPr>
              <a:t>One system. The screens follow the job.</a:t>
            </a:r>
          </a:p>
        </p:txBody>
      </p:sp>
      <p:sp>
        <p:nvSpPr>
          <p:cNvPr id="5" name="Rounded Rectangle 4"/>
          <p:cNvSpPr/>
          <p:nvPr/>
        </p:nvSpPr>
        <p:spPr>
          <a:xfrm>
            <a:off x="457200" y="1371600"/>
            <a:ext cx="2761488" cy="1444752"/>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72768"/>
            <a:ext cx="384048" cy="91440"/>
          </a:xfrm>
          <a:prstGeom prst="rect">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755648"/>
            <a:ext cx="2395728" cy="365760"/>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Dashboard</a:t>
            </a:r>
          </a:p>
        </p:txBody>
      </p:sp>
      <p:sp>
        <p:nvSpPr>
          <p:cNvPr id="8" name="TextBox 7"/>
          <p:cNvSpPr txBox="1"/>
          <p:nvPr/>
        </p:nvSpPr>
        <p:spPr>
          <a:xfrm>
            <a:off x="640080" y="2176272"/>
            <a:ext cx="2395728" cy="438912"/>
          </a:xfrm>
          <a:prstGeom prst="rect">
            <a:avLst/>
          </a:prstGeom>
          <a:noFill/>
        </p:spPr>
        <p:txBody>
          <a:bodyPr wrap="square" lIns="0" rIns="0" tIns="0" bIns="0" anchor="t"/>
          <a:lstStyle/>
          <a:p>
            <a:pPr algn="l">
              <a:spcBef>
                <a:spcPts val="0"/>
              </a:spcBef>
              <a:spcAft>
                <a:spcPts val="0"/>
              </a:spcAft>
            </a:pPr>
            <a:r>
              <a:rPr sz="1300" b="0" i="0">
                <a:solidFill>
                  <a:srgbClr val="5C6B73"/>
                </a:solidFill>
                <a:latin typeface="Calibri"/>
              </a:rPr>
              <a:t>Company or one site</a:t>
            </a:r>
          </a:p>
        </p:txBody>
      </p:sp>
      <p:sp>
        <p:nvSpPr>
          <p:cNvPr id="9" name="Rounded Rectangle 8"/>
          <p:cNvSpPr/>
          <p:nvPr/>
        </p:nvSpPr>
        <p:spPr>
          <a:xfrm>
            <a:off x="3383280" y="1371600"/>
            <a:ext cx="2761488" cy="1444752"/>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66160" y="1572768"/>
            <a:ext cx="384048" cy="91440"/>
          </a:xfrm>
          <a:prstGeom prst="rect">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755648"/>
            <a:ext cx="2395728" cy="365760"/>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Production</a:t>
            </a:r>
          </a:p>
        </p:txBody>
      </p:sp>
      <p:sp>
        <p:nvSpPr>
          <p:cNvPr id="12" name="TextBox 11"/>
          <p:cNvSpPr txBox="1"/>
          <p:nvPr/>
        </p:nvSpPr>
        <p:spPr>
          <a:xfrm>
            <a:off x="3566160" y="2176272"/>
            <a:ext cx="2395728" cy="438912"/>
          </a:xfrm>
          <a:prstGeom prst="rect">
            <a:avLst/>
          </a:prstGeom>
          <a:noFill/>
        </p:spPr>
        <p:txBody>
          <a:bodyPr wrap="square" lIns="0" rIns="0" tIns="0" bIns="0" anchor="t"/>
          <a:lstStyle/>
          <a:p>
            <a:pPr algn="l">
              <a:spcBef>
                <a:spcPts val="0"/>
              </a:spcBef>
              <a:spcAft>
                <a:spcPts val="0"/>
              </a:spcAft>
            </a:pPr>
            <a:r>
              <a:rPr sz="1300" b="0" i="0">
                <a:solidFill>
                  <a:srgbClr val="5C6B73"/>
                </a:solidFill>
                <a:latin typeface="Calibri"/>
              </a:rPr>
              <a:t>Block batches and counts</a:t>
            </a:r>
          </a:p>
        </p:txBody>
      </p:sp>
      <p:sp>
        <p:nvSpPr>
          <p:cNvPr id="13" name="Rounded Rectangle 12"/>
          <p:cNvSpPr/>
          <p:nvPr/>
        </p:nvSpPr>
        <p:spPr>
          <a:xfrm>
            <a:off x="6309360" y="1371600"/>
            <a:ext cx="2761488" cy="1444752"/>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92240" y="1572768"/>
            <a:ext cx="384048" cy="91440"/>
          </a:xfrm>
          <a:prstGeom prst="rect">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755648"/>
            <a:ext cx="2395728" cy="365760"/>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Recycling</a:t>
            </a:r>
          </a:p>
        </p:txBody>
      </p:sp>
      <p:sp>
        <p:nvSpPr>
          <p:cNvPr id="16" name="TextBox 15"/>
          <p:cNvSpPr txBox="1"/>
          <p:nvPr/>
        </p:nvSpPr>
        <p:spPr>
          <a:xfrm>
            <a:off x="6492240" y="2176272"/>
            <a:ext cx="2395728" cy="438912"/>
          </a:xfrm>
          <a:prstGeom prst="rect">
            <a:avLst/>
          </a:prstGeom>
          <a:noFill/>
        </p:spPr>
        <p:txBody>
          <a:bodyPr wrap="square" lIns="0" rIns="0" tIns="0" bIns="0" anchor="t"/>
          <a:lstStyle/>
          <a:p>
            <a:pPr algn="l">
              <a:spcBef>
                <a:spcPts val="0"/>
              </a:spcBef>
              <a:spcAft>
                <a:spcPts val="0"/>
              </a:spcAft>
            </a:pPr>
            <a:r>
              <a:rPr sz="1300" b="0" i="0">
                <a:solidFill>
                  <a:srgbClr val="5C6B73"/>
                </a:solidFill>
                <a:latin typeface="Calibri"/>
              </a:rPr>
              <a:t>Kilograms in and out</a:t>
            </a:r>
          </a:p>
        </p:txBody>
      </p:sp>
      <p:sp>
        <p:nvSpPr>
          <p:cNvPr id="17" name="Rounded Rectangle 16"/>
          <p:cNvSpPr/>
          <p:nvPr/>
        </p:nvSpPr>
        <p:spPr>
          <a:xfrm>
            <a:off x="9235440" y="1371600"/>
            <a:ext cx="2761488" cy="1444752"/>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418320" y="1572768"/>
            <a:ext cx="384048" cy="91440"/>
          </a:xfrm>
          <a:prstGeom prst="rect">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0" y="1755648"/>
            <a:ext cx="2395728" cy="365760"/>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Inventory</a:t>
            </a:r>
          </a:p>
        </p:txBody>
      </p:sp>
      <p:sp>
        <p:nvSpPr>
          <p:cNvPr id="20" name="TextBox 19"/>
          <p:cNvSpPr txBox="1"/>
          <p:nvPr/>
        </p:nvSpPr>
        <p:spPr>
          <a:xfrm>
            <a:off x="9418320" y="2176272"/>
            <a:ext cx="2395728" cy="438912"/>
          </a:xfrm>
          <a:prstGeom prst="rect">
            <a:avLst/>
          </a:prstGeom>
          <a:noFill/>
        </p:spPr>
        <p:txBody>
          <a:bodyPr wrap="square" lIns="0" rIns="0" tIns="0" bIns="0" anchor="t"/>
          <a:lstStyle/>
          <a:p>
            <a:pPr algn="l">
              <a:spcBef>
                <a:spcPts val="0"/>
              </a:spcBef>
              <a:spcAft>
                <a:spcPts val="0"/>
              </a:spcAft>
            </a:pPr>
            <a:r>
              <a:rPr sz="1300" b="0" i="0">
                <a:solidFill>
                  <a:srgbClr val="5C6B73"/>
                </a:solidFill>
                <a:latin typeface="Calibri"/>
              </a:rPr>
              <a:t>Balances and counts</a:t>
            </a:r>
          </a:p>
        </p:txBody>
      </p:sp>
      <p:sp>
        <p:nvSpPr>
          <p:cNvPr id="21" name="Rounded Rectangle 20"/>
          <p:cNvSpPr/>
          <p:nvPr/>
        </p:nvSpPr>
        <p:spPr>
          <a:xfrm>
            <a:off x="457200" y="2971800"/>
            <a:ext cx="2761488" cy="1444752"/>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 y="3172968"/>
            <a:ext cx="384048" cy="9144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355848"/>
            <a:ext cx="2395728" cy="365760"/>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Purchasing</a:t>
            </a:r>
          </a:p>
        </p:txBody>
      </p:sp>
      <p:sp>
        <p:nvSpPr>
          <p:cNvPr id="24" name="TextBox 23"/>
          <p:cNvSpPr txBox="1"/>
          <p:nvPr/>
        </p:nvSpPr>
        <p:spPr>
          <a:xfrm>
            <a:off x="640080" y="3776472"/>
            <a:ext cx="2395728" cy="438912"/>
          </a:xfrm>
          <a:prstGeom prst="rect">
            <a:avLst/>
          </a:prstGeom>
          <a:noFill/>
        </p:spPr>
        <p:txBody>
          <a:bodyPr wrap="square" lIns="0" rIns="0" tIns="0" bIns="0" anchor="t"/>
          <a:lstStyle/>
          <a:p>
            <a:pPr algn="l">
              <a:spcBef>
                <a:spcPts val="0"/>
              </a:spcBef>
              <a:spcAft>
                <a:spcPts val="0"/>
              </a:spcAft>
            </a:pPr>
            <a:r>
              <a:rPr sz="1300" b="0" i="0">
                <a:solidFill>
                  <a:srgbClr val="5C6B73"/>
                </a:solidFill>
                <a:latin typeface="Calibri"/>
              </a:rPr>
              <a:t>Suppliers and receipts</a:t>
            </a:r>
          </a:p>
        </p:txBody>
      </p:sp>
      <p:sp>
        <p:nvSpPr>
          <p:cNvPr id="25" name="Rounded Rectangle 24"/>
          <p:cNvSpPr/>
          <p:nvPr/>
        </p:nvSpPr>
        <p:spPr>
          <a:xfrm>
            <a:off x="3383280" y="2971800"/>
            <a:ext cx="2761488" cy="1444752"/>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566160" y="3172968"/>
            <a:ext cx="384048" cy="9144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66160" y="3355848"/>
            <a:ext cx="2395728" cy="365760"/>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Sales</a:t>
            </a:r>
          </a:p>
        </p:txBody>
      </p:sp>
      <p:sp>
        <p:nvSpPr>
          <p:cNvPr id="28" name="TextBox 27"/>
          <p:cNvSpPr txBox="1"/>
          <p:nvPr/>
        </p:nvSpPr>
        <p:spPr>
          <a:xfrm>
            <a:off x="3566160" y="3776472"/>
            <a:ext cx="2395728" cy="438912"/>
          </a:xfrm>
          <a:prstGeom prst="rect">
            <a:avLst/>
          </a:prstGeom>
          <a:noFill/>
        </p:spPr>
        <p:txBody>
          <a:bodyPr wrap="square" lIns="0" rIns="0" tIns="0" bIns="0" anchor="t"/>
          <a:lstStyle/>
          <a:p>
            <a:pPr algn="l">
              <a:spcBef>
                <a:spcPts val="0"/>
              </a:spcBef>
              <a:spcAft>
                <a:spcPts val="0"/>
              </a:spcAft>
            </a:pPr>
            <a:r>
              <a:rPr sz="1300" b="0" i="0">
                <a:solidFill>
                  <a:srgbClr val="5C6B73"/>
                </a:solidFill>
                <a:latin typeface="Calibri"/>
              </a:rPr>
              <a:t>Orders and customers</a:t>
            </a:r>
          </a:p>
        </p:txBody>
      </p:sp>
      <p:sp>
        <p:nvSpPr>
          <p:cNvPr id="29" name="Rounded Rectangle 28"/>
          <p:cNvSpPr/>
          <p:nvPr/>
        </p:nvSpPr>
        <p:spPr>
          <a:xfrm>
            <a:off x="6309360" y="2971800"/>
            <a:ext cx="2761488" cy="1444752"/>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92240" y="3172968"/>
            <a:ext cx="384048" cy="9144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3355848"/>
            <a:ext cx="2395728" cy="365760"/>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Credit</a:t>
            </a:r>
          </a:p>
        </p:txBody>
      </p:sp>
      <p:sp>
        <p:nvSpPr>
          <p:cNvPr id="32" name="TextBox 31"/>
          <p:cNvSpPr txBox="1"/>
          <p:nvPr/>
        </p:nvSpPr>
        <p:spPr>
          <a:xfrm>
            <a:off x="6492240" y="3776472"/>
            <a:ext cx="2395728" cy="438912"/>
          </a:xfrm>
          <a:prstGeom prst="rect">
            <a:avLst/>
          </a:prstGeom>
          <a:noFill/>
        </p:spPr>
        <p:txBody>
          <a:bodyPr wrap="square" lIns="0" rIns="0" tIns="0" bIns="0" anchor="t"/>
          <a:lstStyle/>
          <a:p>
            <a:pPr algn="l">
              <a:spcBef>
                <a:spcPts val="0"/>
              </a:spcBef>
              <a:spcAft>
                <a:spcPts val="0"/>
              </a:spcAft>
            </a:pPr>
            <a:r>
              <a:rPr sz="1300" b="0" i="0">
                <a:solidFill>
                  <a:srgbClr val="5C6B73"/>
                </a:solidFill>
                <a:latin typeface="Calibri"/>
              </a:rPr>
              <a:t>Who still owes</a:t>
            </a:r>
          </a:p>
        </p:txBody>
      </p:sp>
      <p:sp>
        <p:nvSpPr>
          <p:cNvPr id="33" name="Rounded Rectangle 32"/>
          <p:cNvSpPr/>
          <p:nvPr/>
        </p:nvSpPr>
        <p:spPr>
          <a:xfrm>
            <a:off x="9235440" y="2971800"/>
            <a:ext cx="2761488" cy="1444752"/>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418320" y="3172968"/>
            <a:ext cx="384048" cy="9144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18320" y="3355848"/>
            <a:ext cx="2395728" cy="365760"/>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Finance</a:t>
            </a:r>
          </a:p>
        </p:txBody>
      </p:sp>
      <p:sp>
        <p:nvSpPr>
          <p:cNvPr id="36" name="TextBox 35"/>
          <p:cNvSpPr txBox="1"/>
          <p:nvPr/>
        </p:nvSpPr>
        <p:spPr>
          <a:xfrm>
            <a:off x="9418320" y="3776472"/>
            <a:ext cx="2395728" cy="438912"/>
          </a:xfrm>
          <a:prstGeom prst="rect">
            <a:avLst/>
          </a:prstGeom>
          <a:noFill/>
        </p:spPr>
        <p:txBody>
          <a:bodyPr wrap="square" lIns="0" rIns="0" tIns="0" bIns="0" anchor="t"/>
          <a:lstStyle/>
          <a:p>
            <a:pPr algn="l">
              <a:spcBef>
                <a:spcPts val="0"/>
              </a:spcBef>
              <a:spcAft>
                <a:spcPts val="0"/>
              </a:spcAft>
            </a:pPr>
            <a:r>
              <a:rPr sz="1300" b="0" i="0">
                <a:solidFill>
                  <a:srgbClr val="5C6B73"/>
                </a:solidFill>
                <a:latin typeface="Calibri"/>
              </a:rPr>
              <a:t>Books and Sage compare</a:t>
            </a:r>
          </a:p>
        </p:txBody>
      </p:sp>
      <p:sp>
        <p:nvSpPr>
          <p:cNvPr id="37" name="Rounded Rectangle 36"/>
          <p:cNvSpPr/>
          <p:nvPr/>
        </p:nvSpPr>
        <p:spPr>
          <a:xfrm>
            <a:off x="457200" y="4572000"/>
            <a:ext cx="2761488" cy="1444752"/>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0080" y="4773168"/>
            <a:ext cx="384048" cy="91440"/>
          </a:xfrm>
          <a:prstGeom prst="rect">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4956048"/>
            <a:ext cx="2395728" cy="365760"/>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Banks</a:t>
            </a:r>
          </a:p>
        </p:txBody>
      </p:sp>
      <p:sp>
        <p:nvSpPr>
          <p:cNvPr id="40" name="TextBox 39"/>
          <p:cNvSpPr txBox="1"/>
          <p:nvPr/>
        </p:nvSpPr>
        <p:spPr>
          <a:xfrm>
            <a:off x="640080" y="5376672"/>
            <a:ext cx="2395728" cy="438912"/>
          </a:xfrm>
          <a:prstGeom prst="rect">
            <a:avLst/>
          </a:prstGeom>
          <a:noFill/>
        </p:spPr>
        <p:txBody>
          <a:bodyPr wrap="square" lIns="0" rIns="0" tIns="0" bIns="0" anchor="t"/>
          <a:lstStyle/>
          <a:p>
            <a:pPr algn="l">
              <a:spcBef>
                <a:spcPts val="0"/>
              </a:spcBef>
              <a:spcAft>
                <a:spcPts val="0"/>
              </a:spcAft>
            </a:pPr>
            <a:r>
              <a:rPr sz="1300" b="0" i="0">
                <a:solidFill>
                  <a:srgbClr val="5C6B73"/>
                </a:solidFill>
                <a:latin typeface="Calibri"/>
              </a:rPr>
              <a:t>Collections by account</a:t>
            </a:r>
          </a:p>
        </p:txBody>
      </p:sp>
      <p:sp>
        <p:nvSpPr>
          <p:cNvPr id="41" name="Rounded Rectangle 40"/>
          <p:cNvSpPr/>
          <p:nvPr/>
        </p:nvSpPr>
        <p:spPr>
          <a:xfrm>
            <a:off x="3383280" y="4572000"/>
            <a:ext cx="2761488" cy="1444752"/>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566160" y="4773168"/>
            <a:ext cx="384048" cy="91440"/>
          </a:xfrm>
          <a:prstGeom prst="rect">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566160" y="4956048"/>
            <a:ext cx="2395728" cy="365760"/>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Expenses</a:t>
            </a:r>
          </a:p>
        </p:txBody>
      </p:sp>
      <p:sp>
        <p:nvSpPr>
          <p:cNvPr id="44" name="TextBox 43"/>
          <p:cNvSpPr txBox="1"/>
          <p:nvPr/>
        </p:nvSpPr>
        <p:spPr>
          <a:xfrm>
            <a:off x="3566160" y="5376672"/>
            <a:ext cx="2395728" cy="438912"/>
          </a:xfrm>
          <a:prstGeom prst="rect">
            <a:avLst/>
          </a:prstGeom>
          <a:noFill/>
        </p:spPr>
        <p:txBody>
          <a:bodyPr wrap="square" lIns="0" rIns="0" tIns="0" bIns="0" anchor="t"/>
          <a:lstStyle/>
          <a:p>
            <a:pPr algn="l">
              <a:spcBef>
                <a:spcPts val="0"/>
              </a:spcBef>
              <a:spcAft>
                <a:spcPts val="0"/>
              </a:spcAft>
            </a:pPr>
            <a:r>
              <a:rPr sz="1300" b="0" i="0">
                <a:solidFill>
                  <a:srgbClr val="5C6B73"/>
                </a:solidFill>
                <a:latin typeface="Calibri"/>
              </a:rPr>
              <a:t>Operating costs</a:t>
            </a:r>
          </a:p>
        </p:txBody>
      </p:sp>
      <p:sp>
        <p:nvSpPr>
          <p:cNvPr id="45" name="Rounded Rectangle 44"/>
          <p:cNvSpPr/>
          <p:nvPr/>
        </p:nvSpPr>
        <p:spPr>
          <a:xfrm>
            <a:off x="6309360" y="4572000"/>
            <a:ext cx="2761488" cy="1444752"/>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492240" y="4773168"/>
            <a:ext cx="384048" cy="91440"/>
          </a:xfrm>
          <a:prstGeom prst="rect">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92240" y="4956048"/>
            <a:ext cx="2395728" cy="365760"/>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HR</a:t>
            </a:r>
          </a:p>
        </p:txBody>
      </p:sp>
      <p:sp>
        <p:nvSpPr>
          <p:cNvPr id="48" name="TextBox 47"/>
          <p:cNvSpPr txBox="1"/>
          <p:nvPr/>
        </p:nvSpPr>
        <p:spPr>
          <a:xfrm>
            <a:off x="6492240" y="5376672"/>
            <a:ext cx="2395728" cy="438912"/>
          </a:xfrm>
          <a:prstGeom prst="rect">
            <a:avLst/>
          </a:prstGeom>
          <a:noFill/>
        </p:spPr>
        <p:txBody>
          <a:bodyPr wrap="square" lIns="0" rIns="0" tIns="0" bIns="0" anchor="t"/>
          <a:lstStyle/>
          <a:p>
            <a:pPr algn="l">
              <a:spcBef>
                <a:spcPts val="0"/>
              </a:spcBef>
              <a:spcAft>
                <a:spcPts val="0"/>
              </a:spcAft>
            </a:pPr>
            <a:r>
              <a:rPr sz="1300" b="0" i="0">
                <a:solidFill>
                  <a:srgbClr val="5C6B73"/>
                </a:solidFill>
                <a:latin typeface="Calibri"/>
              </a:rPr>
              <a:t>People, leave, pay</a:t>
            </a:r>
          </a:p>
        </p:txBody>
      </p:sp>
      <p:sp>
        <p:nvSpPr>
          <p:cNvPr id="49" name="Rounded Rectangle 48"/>
          <p:cNvSpPr/>
          <p:nvPr/>
        </p:nvSpPr>
        <p:spPr>
          <a:xfrm>
            <a:off x="9235440" y="4572000"/>
            <a:ext cx="2761488" cy="1444752"/>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418320" y="4773168"/>
            <a:ext cx="384048" cy="91440"/>
          </a:xfrm>
          <a:prstGeom prst="rect">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418320" y="4956048"/>
            <a:ext cx="2395728" cy="365760"/>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Reports</a:t>
            </a:r>
          </a:p>
        </p:txBody>
      </p:sp>
      <p:sp>
        <p:nvSpPr>
          <p:cNvPr id="52" name="TextBox 51"/>
          <p:cNvSpPr txBox="1"/>
          <p:nvPr/>
        </p:nvSpPr>
        <p:spPr>
          <a:xfrm>
            <a:off x="9418320" y="5376672"/>
            <a:ext cx="2395728" cy="438912"/>
          </a:xfrm>
          <a:prstGeom prst="rect">
            <a:avLst/>
          </a:prstGeom>
          <a:noFill/>
        </p:spPr>
        <p:txBody>
          <a:bodyPr wrap="square" lIns="0" rIns="0" tIns="0" bIns="0" anchor="t"/>
          <a:lstStyle/>
          <a:p>
            <a:pPr algn="l">
              <a:spcBef>
                <a:spcPts val="0"/>
              </a:spcBef>
              <a:spcAft>
                <a:spcPts val="0"/>
              </a:spcAft>
            </a:pPr>
            <a:r>
              <a:rPr sz="1300" b="0" i="0">
                <a:solidFill>
                  <a:srgbClr val="5C6B73"/>
                </a:solidFill>
                <a:latin typeface="Calibri"/>
              </a:rPr>
              <a:t>PDF and Excel</a:t>
            </a:r>
          </a:p>
        </p:txBody>
      </p:sp>
      <p:sp>
        <p:nvSpPr>
          <p:cNvPr id="53" name="Rectangle 52"/>
          <p:cNvSpPr/>
          <p:nvPr/>
        </p:nvSpPr>
        <p:spPr>
          <a:xfrm>
            <a:off x="457200" y="6510528"/>
            <a:ext cx="11274552" cy="9144"/>
          </a:xfrm>
          <a:prstGeom prst="rect">
            <a:avLst/>
          </a:prstGeom>
          <a:solidFill>
            <a:srgbClr val="E1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6565392"/>
            <a:ext cx="2011680" cy="237744"/>
          </a:xfrm>
          <a:prstGeom prst="rect">
            <a:avLst/>
          </a:prstGeom>
          <a:noFill/>
        </p:spPr>
        <p:txBody>
          <a:bodyPr wrap="square" lIns="0" rIns="0" tIns="0" bIns="0" anchor="t"/>
          <a:lstStyle/>
          <a:p>
            <a:pPr algn="l">
              <a:spcBef>
                <a:spcPts val="0"/>
              </a:spcBef>
              <a:spcAft>
                <a:spcPts val="0"/>
              </a:spcAft>
            </a:pPr>
            <a:r>
              <a:rPr sz="1000" b="1" i="0">
                <a:solidFill>
                  <a:srgbClr val="5C6B73"/>
                </a:solidFill>
                <a:latin typeface="Calibri"/>
              </a:rPr>
              <a:t>ELECNOVATECH</a:t>
            </a:r>
          </a:p>
        </p:txBody>
      </p:sp>
      <p:sp>
        <p:nvSpPr>
          <p:cNvPr id="55" name="TextBox 54"/>
          <p:cNvSpPr txBox="1"/>
          <p:nvPr/>
        </p:nvSpPr>
        <p:spPr>
          <a:xfrm>
            <a:off x="2468880" y="6565392"/>
            <a:ext cx="5943600" cy="237744"/>
          </a:xfrm>
          <a:prstGeom prst="rect">
            <a:avLst/>
          </a:prstGeom>
          <a:noFill/>
        </p:spPr>
        <p:txBody>
          <a:bodyPr wrap="square" lIns="0" rIns="0" tIns="0" bIns="0" anchor="t"/>
          <a:lstStyle/>
          <a:p>
            <a:pPr algn="ctr">
              <a:spcBef>
                <a:spcPts val="0"/>
              </a:spcBef>
              <a:spcAft>
                <a:spcPts val="0"/>
              </a:spcAft>
            </a:pPr>
            <a:r>
              <a:rPr sz="1000" b="0" i="0">
                <a:solidFill>
                  <a:srgbClr val="5C6B73"/>
                </a:solidFill>
                <a:latin typeface="Calibri"/>
              </a:rPr>
              <a:t>HYBRID  ·  Sales presentation</a:t>
            </a:r>
          </a:p>
        </p:txBody>
      </p:sp>
      <p:sp>
        <p:nvSpPr>
          <p:cNvPr id="56" name="TextBox 55"/>
          <p:cNvSpPr txBox="1"/>
          <p:nvPr/>
        </p:nvSpPr>
        <p:spPr>
          <a:xfrm>
            <a:off x="9509760" y="6565392"/>
            <a:ext cx="2221992" cy="237744"/>
          </a:xfrm>
          <a:prstGeom prst="rect">
            <a:avLst/>
          </a:prstGeom>
          <a:noFill/>
        </p:spPr>
        <p:txBody>
          <a:bodyPr wrap="square" lIns="0" rIns="0" tIns="0" bIns="0" anchor="t"/>
          <a:lstStyle/>
          <a:p>
            <a:pPr algn="r">
              <a:spcBef>
                <a:spcPts val="0"/>
              </a:spcBef>
              <a:spcAft>
                <a:spcPts val="0"/>
              </a:spcAft>
            </a:pPr>
            <a:r>
              <a:rPr sz="1000" b="1" i="0">
                <a:solidFill>
                  <a:srgbClr val="5C6B73"/>
                </a:solidFill>
                <a:latin typeface="Calibri"/>
              </a:rPr>
              <a:t>05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19456"/>
          </a:xfrm>
          <a:prstGeom prst="rect">
            <a:avLst/>
          </a:prstGeom>
          <a:noFill/>
        </p:spPr>
        <p:txBody>
          <a:bodyPr wrap="square" lIns="0" rIns="0" tIns="0" bIns="0" anchor="t"/>
          <a:lstStyle/>
          <a:p>
            <a:pPr algn="l">
              <a:spcBef>
                <a:spcPts val="0"/>
              </a:spcBef>
              <a:spcAft>
                <a:spcPts val="0"/>
              </a:spcAft>
            </a:pPr>
            <a:r>
              <a:rPr sz="1100" b="1" i="0">
                <a:solidFill>
                  <a:srgbClr val="2D5A27"/>
                </a:solidFill>
                <a:latin typeface="Calibri"/>
              </a:rPr>
              <a:t>BLOCK FACTORY</a:t>
            </a:r>
          </a:p>
        </p:txBody>
      </p:sp>
      <p:sp>
        <p:nvSpPr>
          <p:cNvPr id="4" name="TextBox 3"/>
          <p:cNvSpPr txBox="1"/>
          <p:nvPr/>
        </p:nvSpPr>
        <p:spPr>
          <a:xfrm>
            <a:off x="457200" y="475488"/>
            <a:ext cx="9144000" cy="502920"/>
          </a:xfrm>
          <a:prstGeom prst="rect">
            <a:avLst/>
          </a:prstGeom>
          <a:noFill/>
        </p:spPr>
        <p:txBody>
          <a:bodyPr wrap="square" lIns="0" rIns="0" tIns="0" bIns="0" anchor="t"/>
          <a:lstStyle/>
          <a:p>
            <a:pPr algn="l">
              <a:spcBef>
                <a:spcPts val="0"/>
              </a:spcBef>
              <a:spcAft>
                <a:spcPts val="0"/>
              </a:spcAft>
            </a:pPr>
            <a:r>
              <a:rPr sz="3000" b="1" i="0">
                <a:solidFill>
                  <a:srgbClr val="1A202C"/>
                </a:solidFill>
                <a:latin typeface="Calibri"/>
              </a:rPr>
              <a:t>From a batch to a size you can sell.</a:t>
            </a:r>
          </a:p>
        </p:txBody>
      </p:sp>
      <p:sp>
        <p:nvSpPr>
          <p:cNvPr id="5" name="Rounded Rectangle 4"/>
          <p:cNvSpPr/>
          <p:nvPr/>
        </p:nvSpPr>
        <p:spPr>
          <a:xfrm>
            <a:off x="457200" y="1325880"/>
            <a:ext cx="384048" cy="384048"/>
          </a:xfrm>
          <a:prstGeom prst="roundRect">
            <a:avLst>
              <a:gd name="adj" fmla="val 20000"/>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62456"/>
            <a:ext cx="384048" cy="310896"/>
          </a:xfrm>
          <a:prstGeom prst="rect">
            <a:avLst/>
          </a:prstGeom>
          <a:noFill/>
        </p:spPr>
        <p:txBody>
          <a:bodyPr wrap="square" lIns="0" rIns="0" tIns="0" bIns="0" anchor="t"/>
          <a:lstStyle/>
          <a:p>
            <a:pPr algn="ctr">
              <a:spcBef>
                <a:spcPts val="0"/>
              </a:spcBef>
              <a:spcAft>
                <a:spcPts val="0"/>
              </a:spcAft>
            </a:pPr>
            <a:r>
              <a:rPr sz="1400" b="1" i="0">
                <a:solidFill>
                  <a:srgbClr val="FFFFFF"/>
                </a:solidFill>
                <a:latin typeface="Calibri"/>
              </a:rPr>
              <a:t>1</a:t>
            </a:r>
          </a:p>
        </p:txBody>
      </p:sp>
      <p:sp>
        <p:nvSpPr>
          <p:cNvPr id="7" name="TextBox 6"/>
          <p:cNvSpPr txBox="1"/>
          <p:nvPr/>
        </p:nvSpPr>
        <p:spPr>
          <a:xfrm>
            <a:off x="1024128" y="1325880"/>
            <a:ext cx="6537960" cy="64008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Batches for 10, 15, 20, and 24 cm, with formulas for cement bags, plates, poliche loads, and pallets.</a:t>
            </a:r>
          </a:p>
        </p:txBody>
      </p:sp>
      <p:sp>
        <p:nvSpPr>
          <p:cNvPr id="8" name="Rounded Rectangle 7"/>
          <p:cNvSpPr/>
          <p:nvPr/>
        </p:nvSpPr>
        <p:spPr>
          <a:xfrm>
            <a:off x="457200" y="2194560"/>
            <a:ext cx="384048" cy="384048"/>
          </a:xfrm>
          <a:prstGeom prst="roundRect">
            <a:avLst>
              <a:gd name="adj" fmla="val 20000"/>
            </a:avLst>
          </a:prstGeom>
          <a:solidFill>
            <a:srgbClr val="005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231136"/>
            <a:ext cx="384048" cy="310896"/>
          </a:xfrm>
          <a:prstGeom prst="rect">
            <a:avLst/>
          </a:prstGeom>
          <a:noFill/>
        </p:spPr>
        <p:txBody>
          <a:bodyPr wrap="square" lIns="0" rIns="0" tIns="0" bIns="0" anchor="t"/>
          <a:lstStyle/>
          <a:p>
            <a:pPr algn="ctr">
              <a:spcBef>
                <a:spcPts val="0"/>
              </a:spcBef>
              <a:spcAft>
                <a:spcPts val="0"/>
              </a:spcAft>
            </a:pPr>
            <a:r>
              <a:rPr sz="1400" b="1" i="0">
                <a:solidFill>
                  <a:srgbClr val="FFFFFF"/>
                </a:solidFill>
                <a:latin typeface="Calibri"/>
              </a:rPr>
              <a:t>2</a:t>
            </a:r>
          </a:p>
        </p:txBody>
      </p:sp>
      <p:sp>
        <p:nvSpPr>
          <p:cNvPr id="10" name="TextBox 9"/>
          <p:cNvSpPr txBox="1"/>
          <p:nvPr/>
        </p:nvSpPr>
        <p:spPr>
          <a:xfrm>
            <a:off x="1024128" y="2194560"/>
            <a:ext cx="6537960" cy="64008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Counts at three points: batch count, after drying, and after curing, plus daily output.</a:t>
            </a:r>
          </a:p>
        </p:txBody>
      </p:sp>
      <p:sp>
        <p:nvSpPr>
          <p:cNvPr id="11" name="Rounded Rectangle 10"/>
          <p:cNvSpPr/>
          <p:nvPr/>
        </p:nvSpPr>
        <p:spPr>
          <a:xfrm>
            <a:off x="457200" y="3063239"/>
            <a:ext cx="384048" cy="384048"/>
          </a:xfrm>
          <a:prstGeom prst="roundRect">
            <a:avLst>
              <a:gd name="adj" fmla="val 20000"/>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3099815"/>
            <a:ext cx="384048" cy="310896"/>
          </a:xfrm>
          <a:prstGeom prst="rect">
            <a:avLst/>
          </a:prstGeom>
          <a:noFill/>
        </p:spPr>
        <p:txBody>
          <a:bodyPr wrap="square" lIns="0" rIns="0" tIns="0" bIns="0" anchor="t"/>
          <a:lstStyle/>
          <a:p>
            <a:pPr algn="ctr">
              <a:spcBef>
                <a:spcPts val="0"/>
              </a:spcBef>
              <a:spcAft>
                <a:spcPts val="0"/>
              </a:spcAft>
            </a:pPr>
            <a:r>
              <a:rPr sz="1400" b="1" i="0">
                <a:solidFill>
                  <a:srgbClr val="FFFFFF"/>
                </a:solidFill>
                <a:latin typeface="Calibri"/>
              </a:rPr>
              <a:t>3</a:t>
            </a:r>
          </a:p>
        </p:txBody>
      </p:sp>
      <p:sp>
        <p:nvSpPr>
          <p:cNvPr id="13" name="TextBox 12"/>
          <p:cNvSpPr txBox="1"/>
          <p:nvPr/>
        </p:nvSpPr>
        <p:spPr>
          <a:xfrm>
            <a:off x="1024128" y="3063239"/>
            <a:ext cx="6537960" cy="64008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Yield and damage calculated from the counts you enter.</a:t>
            </a:r>
          </a:p>
        </p:txBody>
      </p:sp>
      <p:sp>
        <p:nvSpPr>
          <p:cNvPr id="14" name="Rounded Rectangle 13"/>
          <p:cNvSpPr/>
          <p:nvPr/>
        </p:nvSpPr>
        <p:spPr>
          <a:xfrm>
            <a:off x="457200" y="3931920"/>
            <a:ext cx="384048" cy="384048"/>
          </a:xfrm>
          <a:prstGeom prst="roundRect">
            <a:avLst>
              <a:gd name="adj" fmla="val 20000"/>
            </a:avLst>
          </a:prstGeom>
          <a:solidFill>
            <a:srgbClr val="005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968496"/>
            <a:ext cx="384048" cy="310896"/>
          </a:xfrm>
          <a:prstGeom prst="rect">
            <a:avLst/>
          </a:prstGeom>
          <a:noFill/>
        </p:spPr>
        <p:txBody>
          <a:bodyPr wrap="square" lIns="0" rIns="0" tIns="0" bIns="0" anchor="t"/>
          <a:lstStyle/>
          <a:p>
            <a:pPr algn="ctr">
              <a:spcBef>
                <a:spcPts val="0"/>
              </a:spcBef>
              <a:spcAft>
                <a:spcPts val="0"/>
              </a:spcAft>
            </a:pPr>
            <a:r>
              <a:rPr sz="1400" b="1" i="0">
                <a:solidFill>
                  <a:srgbClr val="FFFFFF"/>
                </a:solidFill>
                <a:latin typeface="Calibri"/>
              </a:rPr>
              <a:t>4</a:t>
            </a:r>
          </a:p>
        </p:txBody>
      </p:sp>
      <p:sp>
        <p:nvSpPr>
          <p:cNvPr id="16" name="TextBox 15"/>
          <p:cNvSpPr txBox="1"/>
          <p:nvPr/>
        </p:nvSpPr>
        <p:spPr>
          <a:xfrm>
            <a:off x="1024128" y="3931920"/>
            <a:ext cx="6537960" cy="64008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Daily targets, and a capacity view from the cement and poliche on hand.</a:t>
            </a:r>
          </a:p>
        </p:txBody>
      </p:sp>
      <p:sp>
        <p:nvSpPr>
          <p:cNvPr id="17" name="Rounded Rectangle 16"/>
          <p:cNvSpPr/>
          <p:nvPr/>
        </p:nvSpPr>
        <p:spPr>
          <a:xfrm>
            <a:off x="457200" y="4800600"/>
            <a:ext cx="384048" cy="384048"/>
          </a:xfrm>
          <a:prstGeom prst="roundRect">
            <a:avLst>
              <a:gd name="adj" fmla="val 20000"/>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837176"/>
            <a:ext cx="384048" cy="310896"/>
          </a:xfrm>
          <a:prstGeom prst="rect">
            <a:avLst/>
          </a:prstGeom>
          <a:noFill/>
        </p:spPr>
        <p:txBody>
          <a:bodyPr wrap="square" lIns="0" rIns="0" tIns="0" bIns="0" anchor="t"/>
          <a:lstStyle/>
          <a:p>
            <a:pPr algn="ctr">
              <a:spcBef>
                <a:spcPts val="0"/>
              </a:spcBef>
              <a:spcAft>
                <a:spcPts val="0"/>
              </a:spcAft>
            </a:pPr>
            <a:r>
              <a:rPr sz="1400" b="1" i="0">
                <a:solidFill>
                  <a:srgbClr val="FFFFFF"/>
                </a:solidFill>
                <a:latin typeface="Calibri"/>
              </a:rPr>
              <a:t>5</a:t>
            </a:r>
          </a:p>
        </p:txBody>
      </p:sp>
      <p:sp>
        <p:nvSpPr>
          <p:cNvPr id="19" name="TextBox 18"/>
          <p:cNvSpPr txBox="1"/>
          <p:nvPr/>
        </p:nvSpPr>
        <p:spPr>
          <a:xfrm>
            <a:off x="1024128" y="4800600"/>
            <a:ext cx="6537960" cy="64008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An in-app calculator for block quantities, waste, and material.</a:t>
            </a:r>
          </a:p>
        </p:txBody>
      </p:sp>
      <p:sp>
        <p:nvSpPr>
          <p:cNvPr id="20" name="Rounded Rectangle 19"/>
          <p:cNvSpPr/>
          <p:nvPr/>
        </p:nvSpPr>
        <p:spPr>
          <a:xfrm>
            <a:off x="7818120" y="1371600"/>
            <a:ext cx="3913632" cy="4709160"/>
          </a:xfrm>
          <a:prstGeom prst="roundRect">
            <a:avLst>
              <a:gd name="adj" fmla="val 8000"/>
            </a:avLst>
          </a:prstGeom>
          <a:solidFill>
            <a:srgbClr val="F3F8EC"/>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0" y="1572768"/>
            <a:ext cx="3520440" cy="256032"/>
          </a:xfrm>
          <a:prstGeom prst="rect">
            <a:avLst/>
          </a:prstGeom>
          <a:noFill/>
        </p:spPr>
        <p:txBody>
          <a:bodyPr wrap="square" lIns="0" rIns="0" tIns="0" bIns="0" anchor="t"/>
          <a:lstStyle/>
          <a:p>
            <a:pPr algn="l">
              <a:spcBef>
                <a:spcPts val="0"/>
              </a:spcBef>
              <a:spcAft>
                <a:spcPts val="0"/>
              </a:spcAft>
            </a:pPr>
            <a:r>
              <a:rPr sz="1200" b="1" i="0">
                <a:solidFill>
                  <a:srgbClr val="2D5A27"/>
                </a:solidFill>
                <a:latin typeface="Calibri"/>
              </a:rPr>
              <a:t>SIZES IN THE PRODUCT</a:t>
            </a:r>
          </a:p>
        </p:txBody>
      </p:sp>
      <p:sp>
        <p:nvSpPr>
          <p:cNvPr id="22" name="Rounded Rectangle 21"/>
          <p:cNvSpPr/>
          <p:nvPr/>
        </p:nvSpPr>
        <p:spPr>
          <a:xfrm>
            <a:off x="8092440" y="2011680"/>
            <a:ext cx="3383280" cy="621792"/>
          </a:xfrm>
          <a:prstGeom prst="roundRect">
            <a:avLst>
              <a:gd name="adj" fmla="val 12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92440" y="2139696"/>
            <a:ext cx="3383280" cy="365760"/>
          </a:xfrm>
          <a:prstGeom prst="rect">
            <a:avLst/>
          </a:prstGeom>
          <a:noFill/>
        </p:spPr>
        <p:txBody>
          <a:bodyPr wrap="square" lIns="0" rIns="0" tIns="0" bIns="0" anchor="t"/>
          <a:lstStyle/>
          <a:p>
            <a:pPr algn="ctr">
              <a:spcBef>
                <a:spcPts val="0"/>
              </a:spcBef>
              <a:spcAft>
                <a:spcPts val="0"/>
              </a:spcAft>
            </a:pPr>
            <a:r>
              <a:rPr sz="1800" b="1" i="0">
                <a:solidFill>
                  <a:srgbClr val="1A202C"/>
                </a:solidFill>
                <a:latin typeface="Calibri"/>
              </a:rPr>
              <a:t>10 cm</a:t>
            </a:r>
          </a:p>
        </p:txBody>
      </p:sp>
      <p:sp>
        <p:nvSpPr>
          <p:cNvPr id="24" name="Rounded Rectangle 23"/>
          <p:cNvSpPr/>
          <p:nvPr/>
        </p:nvSpPr>
        <p:spPr>
          <a:xfrm>
            <a:off x="8092440" y="2788920"/>
            <a:ext cx="3383280" cy="621792"/>
          </a:xfrm>
          <a:prstGeom prst="roundRect">
            <a:avLst>
              <a:gd name="adj" fmla="val 12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92440" y="2916936"/>
            <a:ext cx="3383280" cy="365760"/>
          </a:xfrm>
          <a:prstGeom prst="rect">
            <a:avLst/>
          </a:prstGeom>
          <a:noFill/>
        </p:spPr>
        <p:txBody>
          <a:bodyPr wrap="square" lIns="0" rIns="0" tIns="0" bIns="0" anchor="t"/>
          <a:lstStyle/>
          <a:p>
            <a:pPr algn="ctr">
              <a:spcBef>
                <a:spcPts val="0"/>
              </a:spcBef>
              <a:spcAft>
                <a:spcPts val="0"/>
              </a:spcAft>
            </a:pPr>
            <a:r>
              <a:rPr sz="1800" b="1" i="0">
                <a:solidFill>
                  <a:srgbClr val="1A202C"/>
                </a:solidFill>
                <a:latin typeface="Calibri"/>
              </a:rPr>
              <a:t>15 cm</a:t>
            </a:r>
          </a:p>
        </p:txBody>
      </p:sp>
      <p:sp>
        <p:nvSpPr>
          <p:cNvPr id="26" name="Rounded Rectangle 25"/>
          <p:cNvSpPr/>
          <p:nvPr/>
        </p:nvSpPr>
        <p:spPr>
          <a:xfrm>
            <a:off x="8092440" y="3566160"/>
            <a:ext cx="3383280" cy="621792"/>
          </a:xfrm>
          <a:prstGeom prst="roundRect">
            <a:avLst>
              <a:gd name="adj" fmla="val 12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92440" y="3694176"/>
            <a:ext cx="3383280" cy="365760"/>
          </a:xfrm>
          <a:prstGeom prst="rect">
            <a:avLst/>
          </a:prstGeom>
          <a:noFill/>
        </p:spPr>
        <p:txBody>
          <a:bodyPr wrap="square" lIns="0" rIns="0" tIns="0" bIns="0" anchor="t"/>
          <a:lstStyle/>
          <a:p>
            <a:pPr algn="ctr">
              <a:spcBef>
                <a:spcPts val="0"/>
              </a:spcBef>
              <a:spcAft>
                <a:spcPts val="0"/>
              </a:spcAft>
            </a:pPr>
            <a:r>
              <a:rPr sz="1800" b="1" i="0">
                <a:solidFill>
                  <a:srgbClr val="1A202C"/>
                </a:solidFill>
                <a:latin typeface="Calibri"/>
              </a:rPr>
              <a:t>20 cm</a:t>
            </a:r>
          </a:p>
        </p:txBody>
      </p:sp>
      <p:sp>
        <p:nvSpPr>
          <p:cNvPr id="28" name="Rounded Rectangle 27"/>
          <p:cNvSpPr/>
          <p:nvPr/>
        </p:nvSpPr>
        <p:spPr>
          <a:xfrm>
            <a:off x="8092440" y="4343400"/>
            <a:ext cx="3383280" cy="621792"/>
          </a:xfrm>
          <a:prstGeom prst="roundRect">
            <a:avLst>
              <a:gd name="adj" fmla="val 12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92440" y="4471416"/>
            <a:ext cx="3383280" cy="365760"/>
          </a:xfrm>
          <a:prstGeom prst="rect">
            <a:avLst/>
          </a:prstGeom>
          <a:noFill/>
        </p:spPr>
        <p:txBody>
          <a:bodyPr wrap="square" lIns="0" rIns="0" tIns="0" bIns="0" anchor="t"/>
          <a:lstStyle/>
          <a:p>
            <a:pPr algn="ctr">
              <a:spcBef>
                <a:spcPts val="0"/>
              </a:spcBef>
              <a:spcAft>
                <a:spcPts val="0"/>
              </a:spcAft>
            </a:pPr>
            <a:r>
              <a:rPr sz="1800" b="1" i="0">
                <a:solidFill>
                  <a:srgbClr val="1A202C"/>
                </a:solidFill>
                <a:latin typeface="Calibri"/>
              </a:rPr>
              <a:t>24 cm</a:t>
            </a:r>
          </a:p>
        </p:txBody>
      </p:sp>
      <p:sp>
        <p:nvSpPr>
          <p:cNvPr id="30" name="TextBox 29"/>
          <p:cNvSpPr txBox="1"/>
          <p:nvPr/>
        </p:nvSpPr>
        <p:spPr>
          <a:xfrm>
            <a:off x="8046720" y="5212080"/>
            <a:ext cx="3520440" cy="548640"/>
          </a:xfrm>
          <a:prstGeom prst="rect">
            <a:avLst/>
          </a:prstGeom>
          <a:noFill/>
        </p:spPr>
        <p:txBody>
          <a:bodyPr wrap="square" lIns="0" rIns="0" tIns="0" bIns="0" anchor="t"/>
          <a:lstStyle/>
          <a:p>
            <a:pPr algn="l">
              <a:spcBef>
                <a:spcPts val="0"/>
              </a:spcBef>
              <a:spcAft>
                <a:spcPts val="0"/>
              </a:spcAft>
            </a:pPr>
            <a:r>
              <a:rPr sz="1300" b="0" i="0">
                <a:solidFill>
                  <a:srgbClr val="5C6B73"/>
                </a:solidFill>
                <a:latin typeface="Calibri"/>
              </a:rPr>
              <a:t>Formulas and bag weight are settings.</a:t>
            </a:r>
          </a:p>
        </p:txBody>
      </p:sp>
      <p:sp>
        <p:nvSpPr>
          <p:cNvPr id="31" name="Rectangle 30"/>
          <p:cNvSpPr/>
          <p:nvPr/>
        </p:nvSpPr>
        <p:spPr>
          <a:xfrm>
            <a:off x="457200" y="6510528"/>
            <a:ext cx="11274552" cy="9144"/>
          </a:xfrm>
          <a:prstGeom prst="rect">
            <a:avLst/>
          </a:prstGeom>
          <a:solidFill>
            <a:srgbClr val="E1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565392"/>
            <a:ext cx="2011680" cy="237744"/>
          </a:xfrm>
          <a:prstGeom prst="rect">
            <a:avLst/>
          </a:prstGeom>
          <a:noFill/>
        </p:spPr>
        <p:txBody>
          <a:bodyPr wrap="square" lIns="0" rIns="0" tIns="0" bIns="0" anchor="t"/>
          <a:lstStyle/>
          <a:p>
            <a:pPr algn="l">
              <a:spcBef>
                <a:spcPts val="0"/>
              </a:spcBef>
              <a:spcAft>
                <a:spcPts val="0"/>
              </a:spcAft>
            </a:pPr>
            <a:r>
              <a:rPr sz="1000" b="1" i="0">
                <a:solidFill>
                  <a:srgbClr val="5C6B73"/>
                </a:solidFill>
                <a:latin typeface="Calibri"/>
              </a:rPr>
              <a:t>ELECNOVATECH</a:t>
            </a:r>
          </a:p>
        </p:txBody>
      </p:sp>
      <p:sp>
        <p:nvSpPr>
          <p:cNvPr id="33" name="TextBox 32"/>
          <p:cNvSpPr txBox="1"/>
          <p:nvPr/>
        </p:nvSpPr>
        <p:spPr>
          <a:xfrm>
            <a:off x="2468880" y="6565392"/>
            <a:ext cx="5943600" cy="237744"/>
          </a:xfrm>
          <a:prstGeom prst="rect">
            <a:avLst/>
          </a:prstGeom>
          <a:noFill/>
        </p:spPr>
        <p:txBody>
          <a:bodyPr wrap="square" lIns="0" rIns="0" tIns="0" bIns="0" anchor="t"/>
          <a:lstStyle/>
          <a:p>
            <a:pPr algn="ctr">
              <a:spcBef>
                <a:spcPts val="0"/>
              </a:spcBef>
              <a:spcAft>
                <a:spcPts val="0"/>
              </a:spcAft>
            </a:pPr>
            <a:r>
              <a:rPr sz="1000" b="0" i="0">
                <a:solidFill>
                  <a:srgbClr val="5C6B73"/>
                </a:solidFill>
                <a:latin typeface="Calibri"/>
              </a:rPr>
              <a:t>HYBRID  ·  Sales presentation</a:t>
            </a:r>
          </a:p>
        </p:txBody>
      </p:sp>
      <p:sp>
        <p:nvSpPr>
          <p:cNvPr id="34" name="TextBox 33"/>
          <p:cNvSpPr txBox="1"/>
          <p:nvPr/>
        </p:nvSpPr>
        <p:spPr>
          <a:xfrm>
            <a:off x="9509760" y="6565392"/>
            <a:ext cx="2221992" cy="237744"/>
          </a:xfrm>
          <a:prstGeom prst="rect">
            <a:avLst/>
          </a:prstGeom>
          <a:noFill/>
        </p:spPr>
        <p:txBody>
          <a:bodyPr wrap="square" lIns="0" rIns="0" tIns="0" bIns="0" anchor="t"/>
          <a:lstStyle/>
          <a:p>
            <a:pPr algn="r">
              <a:spcBef>
                <a:spcPts val="0"/>
              </a:spcBef>
              <a:spcAft>
                <a:spcPts val="0"/>
              </a:spcAft>
            </a:pPr>
            <a:r>
              <a:rPr sz="1000" b="1" i="0">
                <a:solidFill>
                  <a:srgbClr val="5C6B73"/>
                </a:solidFill>
                <a:latin typeface="Calibri"/>
              </a:rPr>
              <a:t>06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19456"/>
          </a:xfrm>
          <a:prstGeom prst="rect">
            <a:avLst/>
          </a:prstGeom>
          <a:noFill/>
        </p:spPr>
        <p:txBody>
          <a:bodyPr wrap="square" lIns="0" rIns="0" tIns="0" bIns="0" anchor="t"/>
          <a:lstStyle/>
          <a:p>
            <a:pPr algn="l">
              <a:spcBef>
                <a:spcPts val="0"/>
              </a:spcBef>
              <a:spcAft>
                <a:spcPts val="0"/>
              </a:spcAft>
            </a:pPr>
            <a:r>
              <a:rPr sz="1100" b="1" i="0">
                <a:solidFill>
                  <a:srgbClr val="2D5A27"/>
                </a:solidFill>
                <a:latin typeface="Calibri"/>
              </a:rPr>
              <a:t>PLASTIC RECYCLING</a:t>
            </a:r>
          </a:p>
        </p:txBody>
      </p:sp>
      <p:sp>
        <p:nvSpPr>
          <p:cNvPr id="4" name="TextBox 3"/>
          <p:cNvSpPr txBox="1"/>
          <p:nvPr/>
        </p:nvSpPr>
        <p:spPr>
          <a:xfrm>
            <a:off x="457200" y="475488"/>
            <a:ext cx="10972800" cy="502920"/>
          </a:xfrm>
          <a:prstGeom prst="rect">
            <a:avLst/>
          </a:prstGeom>
          <a:noFill/>
        </p:spPr>
        <p:txBody>
          <a:bodyPr wrap="square" lIns="0" rIns="0" tIns="0" bIns="0" anchor="t"/>
          <a:lstStyle/>
          <a:p>
            <a:pPr algn="l">
              <a:spcBef>
                <a:spcPts val="0"/>
              </a:spcBef>
              <a:spcAft>
                <a:spcPts val="0"/>
              </a:spcAft>
            </a:pPr>
            <a:r>
              <a:rPr sz="3000" b="1" i="0">
                <a:solidFill>
                  <a:srgbClr val="1A202C"/>
                </a:solidFill>
                <a:latin typeface="Calibri"/>
              </a:rPr>
              <a:t>Kilograms in. Kilograms out. Waste in between.</a:t>
            </a:r>
          </a:p>
        </p:txBody>
      </p:sp>
      <p:sp>
        <p:nvSpPr>
          <p:cNvPr id="5" name="Rounded Rectangle 4"/>
          <p:cNvSpPr/>
          <p:nvPr/>
        </p:nvSpPr>
        <p:spPr>
          <a:xfrm>
            <a:off x="457200" y="1417320"/>
            <a:ext cx="2194560" cy="196596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1554480"/>
            <a:ext cx="365760" cy="329184"/>
          </a:xfrm>
          <a:prstGeom prst="rect">
            <a:avLst/>
          </a:prstGeom>
          <a:noFill/>
        </p:spPr>
        <p:txBody>
          <a:bodyPr wrap="square" lIns="0" rIns="0" tIns="0" bIns="0" anchor="t"/>
          <a:lstStyle/>
          <a:p>
            <a:pPr algn="l">
              <a:spcBef>
                <a:spcPts val="0"/>
              </a:spcBef>
              <a:spcAft>
                <a:spcPts val="0"/>
              </a:spcAft>
            </a:pPr>
            <a:r>
              <a:rPr sz="1600" b="1" i="0">
                <a:solidFill>
                  <a:srgbClr val="0054A6"/>
                </a:solidFill>
                <a:latin typeface="Calibri"/>
              </a:rPr>
              <a:t>1</a:t>
            </a:r>
          </a:p>
        </p:txBody>
      </p:sp>
      <p:sp>
        <p:nvSpPr>
          <p:cNvPr id="7" name="TextBox 6"/>
          <p:cNvSpPr txBox="1"/>
          <p:nvPr/>
        </p:nvSpPr>
        <p:spPr>
          <a:xfrm>
            <a:off x="603504" y="1965960"/>
            <a:ext cx="1901952" cy="365760"/>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Received</a:t>
            </a:r>
          </a:p>
        </p:txBody>
      </p:sp>
      <p:sp>
        <p:nvSpPr>
          <p:cNvPr id="8" name="TextBox 7"/>
          <p:cNvSpPr txBox="1"/>
          <p:nvPr/>
        </p:nvSpPr>
        <p:spPr>
          <a:xfrm>
            <a:off x="603504" y="2377440"/>
            <a:ext cx="1901952" cy="731520"/>
          </a:xfrm>
          <a:prstGeom prst="rect">
            <a:avLst/>
          </a:prstGeom>
          <a:noFill/>
        </p:spPr>
        <p:txBody>
          <a:bodyPr wrap="square" lIns="0" rIns="0" tIns="0" bIns="0" anchor="t"/>
          <a:lstStyle/>
          <a:p>
            <a:pPr algn="l">
              <a:spcBef>
                <a:spcPts val="0"/>
              </a:spcBef>
              <a:spcAft>
                <a:spcPts val="0"/>
              </a:spcAft>
            </a:pPr>
            <a:r>
              <a:rPr sz="1300" b="0" i="0">
                <a:solidFill>
                  <a:srgbClr val="3D4A57"/>
                </a:solidFill>
                <a:latin typeface="Calibri"/>
              </a:rPr>
              <a:t>Material in, by kilogram</a:t>
            </a:r>
          </a:p>
        </p:txBody>
      </p:sp>
      <p:sp>
        <p:nvSpPr>
          <p:cNvPr id="9" name="Rounded Rectangle 8"/>
          <p:cNvSpPr/>
          <p:nvPr/>
        </p:nvSpPr>
        <p:spPr>
          <a:xfrm>
            <a:off x="2788920" y="1417320"/>
            <a:ext cx="2194560" cy="196596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35224" y="1554480"/>
            <a:ext cx="365760" cy="329184"/>
          </a:xfrm>
          <a:prstGeom prst="rect">
            <a:avLst/>
          </a:prstGeom>
          <a:noFill/>
        </p:spPr>
        <p:txBody>
          <a:bodyPr wrap="square" lIns="0" rIns="0" tIns="0" bIns="0" anchor="t"/>
          <a:lstStyle/>
          <a:p>
            <a:pPr algn="l">
              <a:spcBef>
                <a:spcPts val="0"/>
              </a:spcBef>
              <a:spcAft>
                <a:spcPts val="0"/>
              </a:spcAft>
            </a:pPr>
            <a:r>
              <a:rPr sz="1600" b="1" i="0">
                <a:solidFill>
                  <a:srgbClr val="0054A6"/>
                </a:solidFill>
                <a:latin typeface="Calibri"/>
              </a:rPr>
              <a:t>2</a:t>
            </a:r>
          </a:p>
        </p:txBody>
      </p:sp>
      <p:sp>
        <p:nvSpPr>
          <p:cNvPr id="11" name="TextBox 10"/>
          <p:cNvSpPr txBox="1"/>
          <p:nvPr/>
        </p:nvSpPr>
        <p:spPr>
          <a:xfrm>
            <a:off x="2935224" y="1965960"/>
            <a:ext cx="1901952" cy="365760"/>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Processed</a:t>
            </a:r>
          </a:p>
        </p:txBody>
      </p:sp>
      <p:sp>
        <p:nvSpPr>
          <p:cNvPr id="12" name="TextBox 11"/>
          <p:cNvSpPr txBox="1"/>
          <p:nvPr/>
        </p:nvSpPr>
        <p:spPr>
          <a:xfrm>
            <a:off x="2935224" y="2377440"/>
            <a:ext cx="1901952" cy="731520"/>
          </a:xfrm>
          <a:prstGeom prst="rect">
            <a:avLst/>
          </a:prstGeom>
          <a:noFill/>
        </p:spPr>
        <p:txBody>
          <a:bodyPr wrap="square" lIns="0" rIns="0" tIns="0" bIns="0" anchor="t"/>
          <a:lstStyle/>
          <a:p>
            <a:pPr algn="l">
              <a:spcBef>
                <a:spcPts val="0"/>
              </a:spcBef>
              <a:spcAft>
                <a:spcPts val="0"/>
              </a:spcAft>
            </a:pPr>
            <a:r>
              <a:rPr sz="1300" b="0" i="0">
                <a:solidFill>
                  <a:srgbClr val="3D4A57"/>
                </a:solidFill>
                <a:latin typeface="Calibri"/>
              </a:rPr>
              <a:t>Output recorded</a:t>
            </a:r>
          </a:p>
        </p:txBody>
      </p:sp>
      <p:sp>
        <p:nvSpPr>
          <p:cNvPr id="13" name="Rounded Rectangle 12"/>
          <p:cNvSpPr/>
          <p:nvPr/>
        </p:nvSpPr>
        <p:spPr>
          <a:xfrm>
            <a:off x="5120640" y="1417320"/>
            <a:ext cx="2194560" cy="196596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66944" y="1554480"/>
            <a:ext cx="365760" cy="329184"/>
          </a:xfrm>
          <a:prstGeom prst="rect">
            <a:avLst/>
          </a:prstGeom>
          <a:noFill/>
        </p:spPr>
        <p:txBody>
          <a:bodyPr wrap="square" lIns="0" rIns="0" tIns="0" bIns="0" anchor="t"/>
          <a:lstStyle/>
          <a:p>
            <a:pPr algn="l">
              <a:spcBef>
                <a:spcPts val="0"/>
              </a:spcBef>
              <a:spcAft>
                <a:spcPts val="0"/>
              </a:spcAft>
            </a:pPr>
            <a:r>
              <a:rPr sz="1600" b="1" i="0">
                <a:solidFill>
                  <a:srgbClr val="0054A6"/>
                </a:solidFill>
                <a:latin typeface="Calibri"/>
              </a:rPr>
              <a:t>3</a:t>
            </a:r>
          </a:p>
        </p:txBody>
      </p:sp>
      <p:sp>
        <p:nvSpPr>
          <p:cNvPr id="15" name="TextBox 14"/>
          <p:cNvSpPr txBox="1"/>
          <p:nvPr/>
        </p:nvSpPr>
        <p:spPr>
          <a:xfrm>
            <a:off x="5266944" y="1965960"/>
            <a:ext cx="1901952" cy="365760"/>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Waste</a:t>
            </a:r>
          </a:p>
        </p:txBody>
      </p:sp>
      <p:sp>
        <p:nvSpPr>
          <p:cNvPr id="16" name="TextBox 15"/>
          <p:cNvSpPr txBox="1"/>
          <p:nvPr/>
        </p:nvSpPr>
        <p:spPr>
          <a:xfrm>
            <a:off x="5266944" y="2377440"/>
            <a:ext cx="1901952" cy="731520"/>
          </a:xfrm>
          <a:prstGeom prst="rect">
            <a:avLst/>
          </a:prstGeom>
          <a:noFill/>
        </p:spPr>
        <p:txBody>
          <a:bodyPr wrap="square" lIns="0" rIns="0" tIns="0" bIns="0" anchor="t"/>
          <a:lstStyle/>
          <a:p>
            <a:pPr algn="l">
              <a:spcBef>
                <a:spcPts val="0"/>
              </a:spcBef>
              <a:spcAft>
                <a:spcPts val="0"/>
              </a:spcAft>
            </a:pPr>
            <a:r>
              <a:rPr sz="1300" b="0" i="0">
                <a:solidFill>
                  <a:srgbClr val="3D4A57"/>
                </a:solidFill>
                <a:latin typeface="Calibri"/>
              </a:rPr>
              <a:t>The gap is the waste</a:t>
            </a:r>
          </a:p>
        </p:txBody>
      </p:sp>
      <p:sp>
        <p:nvSpPr>
          <p:cNvPr id="17" name="Rounded Rectangle 16"/>
          <p:cNvSpPr/>
          <p:nvPr/>
        </p:nvSpPr>
        <p:spPr>
          <a:xfrm>
            <a:off x="7452359" y="1417320"/>
            <a:ext cx="2194560" cy="196596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98663" y="1554480"/>
            <a:ext cx="365760" cy="329184"/>
          </a:xfrm>
          <a:prstGeom prst="rect">
            <a:avLst/>
          </a:prstGeom>
          <a:noFill/>
        </p:spPr>
        <p:txBody>
          <a:bodyPr wrap="square" lIns="0" rIns="0" tIns="0" bIns="0" anchor="t"/>
          <a:lstStyle/>
          <a:p>
            <a:pPr algn="l">
              <a:spcBef>
                <a:spcPts val="0"/>
              </a:spcBef>
              <a:spcAft>
                <a:spcPts val="0"/>
              </a:spcAft>
            </a:pPr>
            <a:r>
              <a:rPr sz="1600" b="1" i="0">
                <a:solidFill>
                  <a:srgbClr val="0054A6"/>
                </a:solidFill>
                <a:latin typeface="Calibri"/>
              </a:rPr>
              <a:t>4</a:t>
            </a:r>
          </a:p>
        </p:txBody>
      </p:sp>
      <p:sp>
        <p:nvSpPr>
          <p:cNvPr id="19" name="TextBox 18"/>
          <p:cNvSpPr txBox="1"/>
          <p:nvPr/>
        </p:nvSpPr>
        <p:spPr>
          <a:xfrm>
            <a:off x="7598663" y="1965960"/>
            <a:ext cx="1901952" cy="365760"/>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Stock</a:t>
            </a:r>
          </a:p>
        </p:txBody>
      </p:sp>
      <p:sp>
        <p:nvSpPr>
          <p:cNvPr id="20" name="TextBox 19"/>
          <p:cNvSpPr txBox="1"/>
          <p:nvPr/>
        </p:nvSpPr>
        <p:spPr>
          <a:xfrm>
            <a:off x="7598663" y="2377440"/>
            <a:ext cx="1901952" cy="731520"/>
          </a:xfrm>
          <a:prstGeom prst="rect">
            <a:avLst/>
          </a:prstGeom>
          <a:noFill/>
        </p:spPr>
        <p:txBody>
          <a:bodyPr wrap="square" lIns="0" rIns="0" tIns="0" bIns="0" anchor="t"/>
          <a:lstStyle/>
          <a:p>
            <a:pPr algn="l">
              <a:spcBef>
                <a:spcPts val="0"/>
              </a:spcBef>
              <a:spcAft>
                <a:spcPts val="0"/>
              </a:spcAft>
            </a:pPr>
            <a:r>
              <a:rPr sz="1300" b="0" i="0">
                <a:solidFill>
                  <a:srgbClr val="3D4A57"/>
                </a:solidFill>
                <a:latin typeface="Calibri"/>
              </a:rPr>
              <a:t>Raw and finished balances</a:t>
            </a:r>
          </a:p>
        </p:txBody>
      </p:sp>
      <p:sp>
        <p:nvSpPr>
          <p:cNvPr id="21" name="Rounded Rectangle 20"/>
          <p:cNvSpPr/>
          <p:nvPr/>
        </p:nvSpPr>
        <p:spPr>
          <a:xfrm>
            <a:off x="9784080" y="1417320"/>
            <a:ext cx="2194560" cy="196596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30384" y="1554480"/>
            <a:ext cx="365760" cy="329184"/>
          </a:xfrm>
          <a:prstGeom prst="rect">
            <a:avLst/>
          </a:prstGeom>
          <a:noFill/>
        </p:spPr>
        <p:txBody>
          <a:bodyPr wrap="square" lIns="0" rIns="0" tIns="0" bIns="0" anchor="t"/>
          <a:lstStyle/>
          <a:p>
            <a:pPr algn="l">
              <a:spcBef>
                <a:spcPts val="0"/>
              </a:spcBef>
              <a:spcAft>
                <a:spcPts val="0"/>
              </a:spcAft>
            </a:pPr>
            <a:r>
              <a:rPr sz="1600" b="1" i="0">
                <a:solidFill>
                  <a:srgbClr val="0054A6"/>
                </a:solidFill>
                <a:latin typeface="Calibri"/>
              </a:rPr>
              <a:t>5</a:t>
            </a:r>
          </a:p>
        </p:txBody>
      </p:sp>
      <p:sp>
        <p:nvSpPr>
          <p:cNvPr id="23" name="TextBox 22"/>
          <p:cNvSpPr txBox="1"/>
          <p:nvPr/>
        </p:nvSpPr>
        <p:spPr>
          <a:xfrm>
            <a:off x="9930384" y="1965960"/>
            <a:ext cx="1901952" cy="365760"/>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Order</a:t>
            </a:r>
          </a:p>
        </p:txBody>
      </p:sp>
      <p:sp>
        <p:nvSpPr>
          <p:cNvPr id="24" name="TextBox 23"/>
          <p:cNvSpPr txBox="1"/>
          <p:nvPr/>
        </p:nvSpPr>
        <p:spPr>
          <a:xfrm>
            <a:off x="9930384" y="2377440"/>
            <a:ext cx="1901952" cy="731520"/>
          </a:xfrm>
          <a:prstGeom prst="rect">
            <a:avLst/>
          </a:prstGeom>
          <a:noFill/>
        </p:spPr>
        <p:txBody>
          <a:bodyPr wrap="square" lIns="0" rIns="0" tIns="0" bIns="0" anchor="t"/>
          <a:lstStyle/>
          <a:p>
            <a:pPr algn="l">
              <a:spcBef>
                <a:spcPts val="0"/>
              </a:spcBef>
              <a:spcAft>
                <a:spcPts val="0"/>
              </a:spcAft>
            </a:pPr>
            <a:r>
              <a:rPr sz="1300" b="0" i="0">
                <a:solidFill>
                  <a:srgbClr val="3D4A57"/>
                </a:solidFill>
                <a:latin typeface="Calibri"/>
              </a:rPr>
              <a:t>A stage on the order</a:t>
            </a:r>
          </a:p>
        </p:txBody>
      </p:sp>
      <p:sp>
        <p:nvSpPr>
          <p:cNvPr id="25" name="Rounded Rectangle 24"/>
          <p:cNvSpPr/>
          <p:nvPr/>
        </p:nvSpPr>
        <p:spPr>
          <a:xfrm>
            <a:off x="457200" y="3611880"/>
            <a:ext cx="11274552" cy="260604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3794760"/>
            <a:ext cx="7315200" cy="329184"/>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What the recycling screens already do</a:t>
            </a:r>
          </a:p>
        </p:txBody>
      </p:sp>
      <p:sp>
        <p:nvSpPr>
          <p:cNvPr id="27" name="TextBox 26"/>
          <p:cNvSpPr txBox="1"/>
          <p:nvPr/>
        </p:nvSpPr>
        <p:spPr>
          <a:xfrm>
            <a:off x="713232" y="4297680"/>
            <a:ext cx="5303520" cy="68580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   Today, this week, and this month output on the recycling view.</a:t>
            </a:r>
          </a:p>
        </p:txBody>
      </p:sp>
      <p:sp>
        <p:nvSpPr>
          <p:cNvPr id="28" name="TextBox 27"/>
          <p:cNvSpPr txBox="1"/>
          <p:nvPr/>
        </p:nvSpPr>
        <p:spPr>
          <a:xfrm>
            <a:off x="6245352" y="4297680"/>
            <a:ext cx="5303520" cy="68580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   Yield from received kilograms and processed kilograms.</a:t>
            </a:r>
          </a:p>
        </p:txBody>
      </p:sp>
      <p:sp>
        <p:nvSpPr>
          <p:cNvPr id="29" name="TextBox 28"/>
          <p:cNvSpPr txBox="1"/>
          <p:nvPr/>
        </p:nvSpPr>
        <p:spPr>
          <a:xfrm>
            <a:off x="713232" y="5074920"/>
            <a:ext cx="5303520" cy="68580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   Order stages: pending, accepted, in production, ready, delivered, cancelled.</a:t>
            </a:r>
          </a:p>
        </p:txBody>
      </p:sp>
      <p:sp>
        <p:nvSpPr>
          <p:cNvPr id="30" name="TextBox 29"/>
          <p:cNvSpPr txBox="1"/>
          <p:nvPr/>
        </p:nvSpPr>
        <p:spPr>
          <a:xfrm>
            <a:off x="6245352" y="5074920"/>
            <a:ext cx="5303520" cy="68580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   Planning uses those records. It does not reuse the block-size learning model.</a:t>
            </a:r>
          </a:p>
        </p:txBody>
      </p:sp>
      <p:sp>
        <p:nvSpPr>
          <p:cNvPr id="31" name="Rectangle 30"/>
          <p:cNvSpPr/>
          <p:nvPr/>
        </p:nvSpPr>
        <p:spPr>
          <a:xfrm>
            <a:off x="457200" y="6510528"/>
            <a:ext cx="11274552" cy="9144"/>
          </a:xfrm>
          <a:prstGeom prst="rect">
            <a:avLst/>
          </a:prstGeom>
          <a:solidFill>
            <a:srgbClr val="E1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6565392"/>
            <a:ext cx="2011680" cy="237744"/>
          </a:xfrm>
          <a:prstGeom prst="rect">
            <a:avLst/>
          </a:prstGeom>
          <a:noFill/>
        </p:spPr>
        <p:txBody>
          <a:bodyPr wrap="square" lIns="0" rIns="0" tIns="0" bIns="0" anchor="t"/>
          <a:lstStyle/>
          <a:p>
            <a:pPr algn="l">
              <a:spcBef>
                <a:spcPts val="0"/>
              </a:spcBef>
              <a:spcAft>
                <a:spcPts val="0"/>
              </a:spcAft>
            </a:pPr>
            <a:r>
              <a:rPr sz="1000" b="1" i="0">
                <a:solidFill>
                  <a:srgbClr val="5C6B73"/>
                </a:solidFill>
                <a:latin typeface="Calibri"/>
              </a:rPr>
              <a:t>ELECNOVATECH</a:t>
            </a:r>
          </a:p>
        </p:txBody>
      </p:sp>
      <p:sp>
        <p:nvSpPr>
          <p:cNvPr id="33" name="TextBox 32"/>
          <p:cNvSpPr txBox="1"/>
          <p:nvPr/>
        </p:nvSpPr>
        <p:spPr>
          <a:xfrm>
            <a:off x="2468880" y="6565392"/>
            <a:ext cx="5943600" cy="237744"/>
          </a:xfrm>
          <a:prstGeom prst="rect">
            <a:avLst/>
          </a:prstGeom>
          <a:noFill/>
        </p:spPr>
        <p:txBody>
          <a:bodyPr wrap="square" lIns="0" rIns="0" tIns="0" bIns="0" anchor="t"/>
          <a:lstStyle/>
          <a:p>
            <a:pPr algn="ctr">
              <a:spcBef>
                <a:spcPts val="0"/>
              </a:spcBef>
              <a:spcAft>
                <a:spcPts val="0"/>
              </a:spcAft>
            </a:pPr>
            <a:r>
              <a:rPr sz="1000" b="0" i="0">
                <a:solidFill>
                  <a:srgbClr val="5C6B73"/>
                </a:solidFill>
                <a:latin typeface="Calibri"/>
              </a:rPr>
              <a:t>HYBRID  ·  Sales presentation</a:t>
            </a:r>
          </a:p>
        </p:txBody>
      </p:sp>
      <p:sp>
        <p:nvSpPr>
          <p:cNvPr id="34" name="TextBox 33"/>
          <p:cNvSpPr txBox="1"/>
          <p:nvPr/>
        </p:nvSpPr>
        <p:spPr>
          <a:xfrm>
            <a:off x="9509760" y="6565392"/>
            <a:ext cx="2221992" cy="237744"/>
          </a:xfrm>
          <a:prstGeom prst="rect">
            <a:avLst/>
          </a:prstGeom>
          <a:noFill/>
        </p:spPr>
        <p:txBody>
          <a:bodyPr wrap="square" lIns="0" rIns="0" tIns="0" bIns="0" anchor="t"/>
          <a:lstStyle/>
          <a:p>
            <a:pPr algn="r">
              <a:spcBef>
                <a:spcPts val="0"/>
              </a:spcBef>
              <a:spcAft>
                <a:spcPts val="0"/>
              </a:spcAft>
            </a:pPr>
            <a:r>
              <a:rPr sz="1000" b="1" i="0">
                <a:solidFill>
                  <a:srgbClr val="5C6B73"/>
                </a:solidFill>
                <a:latin typeface="Calibri"/>
              </a:rPr>
              <a:t>07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19456"/>
          </a:xfrm>
          <a:prstGeom prst="rect">
            <a:avLst/>
          </a:prstGeom>
          <a:noFill/>
        </p:spPr>
        <p:txBody>
          <a:bodyPr wrap="square" lIns="0" rIns="0" tIns="0" bIns="0" anchor="t"/>
          <a:lstStyle/>
          <a:p>
            <a:pPr algn="l">
              <a:spcBef>
                <a:spcPts val="0"/>
              </a:spcBef>
              <a:spcAft>
                <a:spcPts val="0"/>
              </a:spcAft>
            </a:pPr>
            <a:r>
              <a:rPr sz="1100" b="1" i="0">
                <a:solidFill>
                  <a:srgbClr val="2D5A27"/>
                </a:solidFill>
                <a:latin typeface="Calibri"/>
              </a:rPr>
              <a:t>SALES, CREDIT, DELIVERY</a:t>
            </a:r>
          </a:p>
        </p:txBody>
      </p:sp>
      <p:sp>
        <p:nvSpPr>
          <p:cNvPr id="4" name="TextBox 3"/>
          <p:cNvSpPr txBox="1"/>
          <p:nvPr/>
        </p:nvSpPr>
        <p:spPr>
          <a:xfrm>
            <a:off x="457200" y="475488"/>
            <a:ext cx="10972800" cy="502920"/>
          </a:xfrm>
          <a:prstGeom prst="rect">
            <a:avLst/>
          </a:prstGeom>
          <a:noFill/>
        </p:spPr>
        <p:txBody>
          <a:bodyPr wrap="square" lIns="0" rIns="0" tIns="0" bIns="0" anchor="t"/>
          <a:lstStyle/>
          <a:p>
            <a:pPr algn="l">
              <a:spcBef>
                <a:spcPts val="0"/>
              </a:spcBef>
              <a:spcAft>
                <a:spcPts val="0"/>
              </a:spcAft>
            </a:pPr>
            <a:r>
              <a:rPr sz="3000" b="1" i="0">
                <a:solidFill>
                  <a:srgbClr val="1A202C"/>
                </a:solidFill>
                <a:latin typeface="Calibri"/>
              </a:rPr>
              <a:t>A sale stays attached to the customer who owes it.</a:t>
            </a:r>
          </a:p>
        </p:txBody>
      </p:sp>
      <p:sp>
        <p:nvSpPr>
          <p:cNvPr id="5" name="TextBox 4"/>
          <p:cNvSpPr txBox="1"/>
          <p:nvPr/>
        </p:nvSpPr>
        <p:spPr>
          <a:xfrm>
            <a:off x="457200" y="1353312"/>
            <a:ext cx="2103120" cy="329184"/>
          </a:xfrm>
          <a:prstGeom prst="rect">
            <a:avLst/>
          </a:prstGeom>
          <a:noFill/>
        </p:spPr>
        <p:txBody>
          <a:bodyPr wrap="square" lIns="0" rIns="0" tIns="0" bIns="0" anchor="t"/>
          <a:lstStyle/>
          <a:p>
            <a:pPr algn="l">
              <a:spcBef>
                <a:spcPts val="0"/>
              </a:spcBef>
              <a:spcAft>
                <a:spcPts val="0"/>
              </a:spcAft>
            </a:pPr>
            <a:r>
              <a:rPr sz="1600" b="1" i="0">
                <a:solidFill>
                  <a:srgbClr val="2D5A27"/>
                </a:solidFill>
                <a:latin typeface="Calibri"/>
              </a:rPr>
              <a:t>Customers</a:t>
            </a:r>
          </a:p>
        </p:txBody>
      </p:sp>
      <p:sp>
        <p:nvSpPr>
          <p:cNvPr id="6" name="TextBox 5"/>
          <p:cNvSpPr txBox="1"/>
          <p:nvPr/>
        </p:nvSpPr>
        <p:spPr>
          <a:xfrm>
            <a:off x="2651760" y="1353312"/>
            <a:ext cx="5760720" cy="9601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Shared across both sites. Regular or walking. TIN can be stored.</a:t>
            </a:r>
          </a:p>
        </p:txBody>
      </p:sp>
      <p:sp>
        <p:nvSpPr>
          <p:cNvPr id="7" name="TextBox 6"/>
          <p:cNvSpPr txBox="1"/>
          <p:nvPr/>
        </p:nvSpPr>
        <p:spPr>
          <a:xfrm>
            <a:off x="457200" y="2496312"/>
            <a:ext cx="2103120" cy="329184"/>
          </a:xfrm>
          <a:prstGeom prst="rect">
            <a:avLst/>
          </a:prstGeom>
          <a:noFill/>
        </p:spPr>
        <p:txBody>
          <a:bodyPr wrap="square" lIns="0" rIns="0" tIns="0" bIns="0" anchor="t"/>
          <a:lstStyle/>
          <a:p>
            <a:pPr algn="l">
              <a:spcBef>
                <a:spcPts val="0"/>
              </a:spcBef>
              <a:spcAft>
                <a:spcPts val="0"/>
              </a:spcAft>
            </a:pPr>
            <a:r>
              <a:rPr sz="1600" b="1" i="0">
                <a:solidFill>
                  <a:srgbClr val="2D5A27"/>
                </a:solidFill>
                <a:latin typeface="Calibri"/>
              </a:rPr>
              <a:t>Orders</a:t>
            </a:r>
          </a:p>
        </p:txBody>
      </p:sp>
      <p:sp>
        <p:nvSpPr>
          <p:cNvPr id="8" name="TextBox 7"/>
          <p:cNvSpPr txBox="1"/>
          <p:nvPr/>
        </p:nvSpPr>
        <p:spPr>
          <a:xfrm>
            <a:off x="2651760" y="2496312"/>
            <a:ext cx="5760720" cy="9601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Pending pickup, picked, or cancelled. VAT, discount, withholding, and advances sit on the order.</a:t>
            </a:r>
          </a:p>
        </p:txBody>
      </p:sp>
      <p:sp>
        <p:nvSpPr>
          <p:cNvPr id="9" name="TextBox 8"/>
          <p:cNvSpPr txBox="1"/>
          <p:nvPr/>
        </p:nvSpPr>
        <p:spPr>
          <a:xfrm>
            <a:off x="457200" y="3639312"/>
            <a:ext cx="2103120" cy="329184"/>
          </a:xfrm>
          <a:prstGeom prst="rect">
            <a:avLst/>
          </a:prstGeom>
          <a:noFill/>
        </p:spPr>
        <p:txBody>
          <a:bodyPr wrap="square" lIns="0" rIns="0" tIns="0" bIns="0" anchor="t"/>
          <a:lstStyle/>
          <a:p>
            <a:pPr algn="l">
              <a:spcBef>
                <a:spcPts val="0"/>
              </a:spcBef>
              <a:spcAft>
                <a:spcPts val="0"/>
              </a:spcAft>
            </a:pPr>
            <a:r>
              <a:rPr sz="1600" b="1" i="0">
                <a:solidFill>
                  <a:srgbClr val="2D5A27"/>
                </a:solidFill>
                <a:latin typeface="Calibri"/>
              </a:rPr>
              <a:t>Credit</a:t>
            </a:r>
          </a:p>
        </p:txBody>
      </p:sp>
      <p:sp>
        <p:nvSpPr>
          <p:cNvPr id="10" name="TextBox 9"/>
          <p:cNvSpPr txBox="1"/>
          <p:nvPr/>
        </p:nvSpPr>
        <p:spPr>
          <a:xfrm>
            <a:off x="2651760" y="3639312"/>
            <a:ext cx="5760720" cy="9601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The balance already reflects withholding and store credit. A score from 0 to 100 is calculated from that customer’s own history, per site and combined.</a:t>
            </a:r>
          </a:p>
        </p:txBody>
      </p:sp>
      <p:sp>
        <p:nvSpPr>
          <p:cNvPr id="11" name="TextBox 10"/>
          <p:cNvSpPr txBox="1"/>
          <p:nvPr/>
        </p:nvSpPr>
        <p:spPr>
          <a:xfrm>
            <a:off x="457200" y="4782312"/>
            <a:ext cx="2103120" cy="329184"/>
          </a:xfrm>
          <a:prstGeom prst="rect">
            <a:avLst/>
          </a:prstGeom>
          <a:noFill/>
        </p:spPr>
        <p:txBody>
          <a:bodyPr wrap="square" lIns="0" rIns="0" tIns="0" bIns="0" anchor="t"/>
          <a:lstStyle/>
          <a:p>
            <a:pPr algn="l">
              <a:spcBef>
                <a:spcPts val="0"/>
              </a:spcBef>
              <a:spcAft>
                <a:spcPts val="0"/>
              </a:spcAft>
            </a:pPr>
            <a:r>
              <a:rPr sz="1600" b="1" i="0">
                <a:solidFill>
                  <a:srgbClr val="2D5A27"/>
                </a:solidFill>
                <a:latin typeface="Calibri"/>
              </a:rPr>
              <a:t>Proof</a:t>
            </a:r>
          </a:p>
        </p:txBody>
      </p:sp>
      <p:sp>
        <p:nvSpPr>
          <p:cNvPr id="12" name="TextBox 11"/>
          <p:cNvSpPr txBox="1"/>
          <p:nvPr/>
        </p:nvSpPr>
        <p:spPr>
          <a:xfrm>
            <a:off x="2651760" y="4782312"/>
            <a:ext cx="5760720" cy="9601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The driver closes delivery with a photo, a signature, and a GPS point.</a:t>
            </a:r>
          </a:p>
        </p:txBody>
      </p:sp>
      <p:sp>
        <p:nvSpPr>
          <p:cNvPr id="13" name="Rounded Rectangle 12"/>
          <p:cNvSpPr/>
          <p:nvPr/>
        </p:nvSpPr>
        <p:spPr>
          <a:xfrm>
            <a:off x="8595360" y="1371600"/>
            <a:ext cx="3136392" cy="4754880"/>
          </a:xfrm>
          <a:prstGeom prst="roundRect">
            <a:avLst>
              <a:gd name="adj" fmla="val 8000"/>
            </a:avLst>
          </a:prstGeom>
          <a:solidFill>
            <a:srgbClr val="0E1A26"/>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23960" y="1600200"/>
            <a:ext cx="2743200" cy="274320"/>
          </a:xfrm>
          <a:prstGeom prst="rect">
            <a:avLst/>
          </a:prstGeom>
          <a:noFill/>
        </p:spPr>
        <p:txBody>
          <a:bodyPr wrap="square" lIns="0" rIns="0" tIns="0" bIns="0" anchor="t"/>
          <a:lstStyle/>
          <a:p>
            <a:pPr algn="l">
              <a:spcBef>
                <a:spcPts val="0"/>
              </a:spcBef>
              <a:spcAft>
                <a:spcPts val="0"/>
              </a:spcAft>
            </a:pPr>
            <a:r>
              <a:rPr sz="1200" b="1" i="0">
                <a:solidFill>
                  <a:srgbClr val="80C342"/>
                </a:solidFill>
                <a:latin typeface="Calibri"/>
              </a:rPr>
              <a:t>ON THE PHONE</a:t>
            </a:r>
          </a:p>
        </p:txBody>
      </p:sp>
      <p:sp>
        <p:nvSpPr>
          <p:cNvPr id="15" name="TextBox 14"/>
          <p:cNvSpPr txBox="1"/>
          <p:nvPr/>
        </p:nvSpPr>
        <p:spPr>
          <a:xfrm>
            <a:off x="8823960" y="2057400"/>
            <a:ext cx="2743200" cy="822960"/>
          </a:xfrm>
          <a:prstGeom prst="rect">
            <a:avLst/>
          </a:prstGeom>
          <a:noFill/>
        </p:spPr>
        <p:txBody>
          <a:bodyPr wrap="square" lIns="0" rIns="0" tIns="0" bIns="0" anchor="t"/>
          <a:lstStyle/>
          <a:p>
            <a:pPr algn="l">
              <a:spcBef>
                <a:spcPts val="0"/>
              </a:spcBef>
              <a:spcAft>
                <a:spcPts val="0"/>
              </a:spcAft>
            </a:pPr>
            <a:r>
              <a:rPr sz="2200" b="1" i="0">
                <a:solidFill>
                  <a:srgbClr val="FFFFFF"/>
                </a:solidFill>
                <a:latin typeface="Calibri"/>
              </a:rPr>
              <a:t>Delivery
confirmation</a:t>
            </a:r>
          </a:p>
        </p:txBody>
      </p:sp>
      <p:sp>
        <p:nvSpPr>
          <p:cNvPr id="16" name="TextBox 15"/>
          <p:cNvSpPr txBox="1"/>
          <p:nvPr/>
        </p:nvSpPr>
        <p:spPr>
          <a:xfrm>
            <a:off x="8823960" y="3108960"/>
            <a:ext cx="2743200" cy="320040"/>
          </a:xfrm>
          <a:prstGeom prst="rect">
            <a:avLst/>
          </a:prstGeom>
          <a:noFill/>
        </p:spPr>
        <p:txBody>
          <a:bodyPr wrap="square" lIns="0" rIns="0" tIns="0" bIns="0" anchor="t"/>
          <a:lstStyle/>
          <a:p>
            <a:pPr algn="l">
              <a:spcBef>
                <a:spcPts val="0"/>
              </a:spcBef>
              <a:spcAft>
                <a:spcPts val="0"/>
              </a:spcAft>
            </a:pPr>
            <a:r>
              <a:rPr sz="1500" b="0" i="0">
                <a:solidFill>
                  <a:srgbClr val="D0DEC8"/>
                </a:solidFill>
                <a:latin typeface="Calibri"/>
              </a:rPr>
              <a:t>Photo</a:t>
            </a:r>
          </a:p>
        </p:txBody>
      </p:sp>
      <p:sp>
        <p:nvSpPr>
          <p:cNvPr id="17" name="TextBox 16"/>
          <p:cNvSpPr txBox="1"/>
          <p:nvPr/>
        </p:nvSpPr>
        <p:spPr>
          <a:xfrm>
            <a:off x="8823960" y="3520440"/>
            <a:ext cx="2743200" cy="320040"/>
          </a:xfrm>
          <a:prstGeom prst="rect">
            <a:avLst/>
          </a:prstGeom>
          <a:noFill/>
        </p:spPr>
        <p:txBody>
          <a:bodyPr wrap="square" lIns="0" rIns="0" tIns="0" bIns="0" anchor="t"/>
          <a:lstStyle/>
          <a:p>
            <a:pPr algn="l">
              <a:spcBef>
                <a:spcPts val="0"/>
              </a:spcBef>
              <a:spcAft>
                <a:spcPts val="0"/>
              </a:spcAft>
            </a:pPr>
            <a:r>
              <a:rPr sz="1500" b="0" i="0">
                <a:solidFill>
                  <a:srgbClr val="D0DEC8"/>
                </a:solidFill>
                <a:latin typeface="Calibri"/>
              </a:rPr>
              <a:t>Signature</a:t>
            </a:r>
          </a:p>
        </p:txBody>
      </p:sp>
      <p:sp>
        <p:nvSpPr>
          <p:cNvPr id="18" name="TextBox 17"/>
          <p:cNvSpPr txBox="1"/>
          <p:nvPr/>
        </p:nvSpPr>
        <p:spPr>
          <a:xfrm>
            <a:off x="8823960" y="3931920"/>
            <a:ext cx="2743200" cy="320040"/>
          </a:xfrm>
          <a:prstGeom prst="rect">
            <a:avLst/>
          </a:prstGeom>
          <a:noFill/>
        </p:spPr>
        <p:txBody>
          <a:bodyPr wrap="square" lIns="0" rIns="0" tIns="0" bIns="0" anchor="t"/>
          <a:lstStyle/>
          <a:p>
            <a:pPr algn="l">
              <a:spcBef>
                <a:spcPts val="0"/>
              </a:spcBef>
              <a:spcAft>
                <a:spcPts val="0"/>
              </a:spcAft>
            </a:pPr>
            <a:r>
              <a:rPr sz="1500" b="0" i="0">
                <a:solidFill>
                  <a:srgbClr val="D0DEC8"/>
                </a:solidFill>
                <a:latin typeface="Calibri"/>
              </a:rPr>
              <a:t>GPS point</a:t>
            </a:r>
          </a:p>
        </p:txBody>
      </p:sp>
      <p:sp>
        <p:nvSpPr>
          <p:cNvPr id="19" name="TextBox 18"/>
          <p:cNvSpPr txBox="1"/>
          <p:nvPr/>
        </p:nvSpPr>
        <p:spPr>
          <a:xfrm>
            <a:off x="8823960" y="4709160"/>
            <a:ext cx="2697480" cy="1005840"/>
          </a:xfrm>
          <a:prstGeom prst="rect">
            <a:avLst/>
          </a:prstGeom>
          <a:noFill/>
        </p:spPr>
        <p:txBody>
          <a:bodyPr wrap="square" lIns="0" rIns="0" tIns="0" bIns="0" anchor="t"/>
          <a:lstStyle/>
          <a:p>
            <a:pPr algn="l">
              <a:spcBef>
                <a:spcPts val="0"/>
              </a:spcBef>
              <a:spcAft>
                <a:spcPts val="0"/>
              </a:spcAft>
            </a:pPr>
            <a:r>
              <a:rPr sz="1300" b="0" i="0">
                <a:solidFill>
                  <a:srgbClr val="B7C4CC"/>
                </a:solidFill>
                <a:latin typeface="Calibri"/>
              </a:rPr>
              <a:t>Queued if the signal drops, then sent when it returns.</a:t>
            </a:r>
          </a:p>
        </p:txBody>
      </p:sp>
      <p:sp>
        <p:nvSpPr>
          <p:cNvPr id="20" name="Rectangle 19"/>
          <p:cNvSpPr/>
          <p:nvPr/>
        </p:nvSpPr>
        <p:spPr>
          <a:xfrm>
            <a:off x="457200" y="6510528"/>
            <a:ext cx="11274552" cy="9144"/>
          </a:xfrm>
          <a:prstGeom prst="rect">
            <a:avLst/>
          </a:prstGeom>
          <a:solidFill>
            <a:srgbClr val="E1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565392"/>
            <a:ext cx="2011680" cy="237744"/>
          </a:xfrm>
          <a:prstGeom prst="rect">
            <a:avLst/>
          </a:prstGeom>
          <a:noFill/>
        </p:spPr>
        <p:txBody>
          <a:bodyPr wrap="square" lIns="0" rIns="0" tIns="0" bIns="0" anchor="t"/>
          <a:lstStyle/>
          <a:p>
            <a:pPr algn="l">
              <a:spcBef>
                <a:spcPts val="0"/>
              </a:spcBef>
              <a:spcAft>
                <a:spcPts val="0"/>
              </a:spcAft>
            </a:pPr>
            <a:r>
              <a:rPr sz="1000" b="1" i="0">
                <a:solidFill>
                  <a:srgbClr val="5C6B73"/>
                </a:solidFill>
                <a:latin typeface="Calibri"/>
              </a:rPr>
              <a:t>ELECNOVATECH</a:t>
            </a:r>
          </a:p>
        </p:txBody>
      </p:sp>
      <p:sp>
        <p:nvSpPr>
          <p:cNvPr id="22" name="TextBox 21"/>
          <p:cNvSpPr txBox="1"/>
          <p:nvPr/>
        </p:nvSpPr>
        <p:spPr>
          <a:xfrm>
            <a:off x="2468880" y="6565392"/>
            <a:ext cx="5943600" cy="237744"/>
          </a:xfrm>
          <a:prstGeom prst="rect">
            <a:avLst/>
          </a:prstGeom>
          <a:noFill/>
        </p:spPr>
        <p:txBody>
          <a:bodyPr wrap="square" lIns="0" rIns="0" tIns="0" bIns="0" anchor="t"/>
          <a:lstStyle/>
          <a:p>
            <a:pPr algn="ctr">
              <a:spcBef>
                <a:spcPts val="0"/>
              </a:spcBef>
              <a:spcAft>
                <a:spcPts val="0"/>
              </a:spcAft>
            </a:pPr>
            <a:r>
              <a:rPr sz="1000" b="0" i="0">
                <a:solidFill>
                  <a:srgbClr val="5C6B73"/>
                </a:solidFill>
                <a:latin typeface="Calibri"/>
              </a:rPr>
              <a:t>HYBRID  ·  Sales presentation</a:t>
            </a:r>
          </a:p>
        </p:txBody>
      </p:sp>
      <p:sp>
        <p:nvSpPr>
          <p:cNvPr id="23" name="TextBox 22"/>
          <p:cNvSpPr txBox="1"/>
          <p:nvPr/>
        </p:nvSpPr>
        <p:spPr>
          <a:xfrm>
            <a:off x="9509760" y="6565392"/>
            <a:ext cx="2221992" cy="237744"/>
          </a:xfrm>
          <a:prstGeom prst="rect">
            <a:avLst/>
          </a:prstGeom>
          <a:noFill/>
        </p:spPr>
        <p:txBody>
          <a:bodyPr wrap="square" lIns="0" rIns="0" tIns="0" bIns="0" anchor="t"/>
          <a:lstStyle/>
          <a:p>
            <a:pPr algn="r">
              <a:spcBef>
                <a:spcPts val="0"/>
              </a:spcBef>
              <a:spcAft>
                <a:spcPts val="0"/>
              </a:spcAft>
            </a:pPr>
            <a:r>
              <a:rPr sz="1000" b="1" i="0">
                <a:solidFill>
                  <a:srgbClr val="5C6B73"/>
                </a:solidFill>
                <a:latin typeface="Calibri"/>
              </a:rPr>
              <a:t>08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19456"/>
          </a:xfrm>
          <a:prstGeom prst="rect">
            <a:avLst/>
          </a:prstGeom>
          <a:noFill/>
        </p:spPr>
        <p:txBody>
          <a:bodyPr wrap="square" lIns="0" rIns="0" tIns="0" bIns="0" anchor="t"/>
          <a:lstStyle/>
          <a:p>
            <a:pPr algn="l">
              <a:spcBef>
                <a:spcPts val="0"/>
              </a:spcBef>
              <a:spcAft>
                <a:spcPts val="0"/>
              </a:spcAft>
            </a:pPr>
            <a:r>
              <a:rPr sz="1100" b="1" i="0">
                <a:solidFill>
                  <a:srgbClr val="2D5A27"/>
                </a:solidFill>
                <a:latin typeface="Calibri"/>
              </a:rPr>
              <a:t>FINANCE</a:t>
            </a:r>
          </a:p>
        </p:txBody>
      </p:sp>
      <p:sp>
        <p:nvSpPr>
          <p:cNvPr id="4" name="TextBox 3"/>
          <p:cNvSpPr txBox="1"/>
          <p:nvPr/>
        </p:nvSpPr>
        <p:spPr>
          <a:xfrm>
            <a:off x="457200" y="475488"/>
            <a:ext cx="10972800" cy="502920"/>
          </a:xfrm>
          <a:prstGeom prst="rect">
            <a:avLst/>
          </a:prstGeom>
          <a:noFill/>
        </p:spPr>
        <p:txBody>
          <a:bodyPr wrap="square" lIns="0" rIns="0" tIns="0" bIns="0" anchor="t"/>
          <a:lstStyle/>
          <a:p>
            <a:pPr algn="l">
              <a:spcBef>
                <a:spcPts val="0"/>
              </a:spcBef>
              <a:spcAft>
                <a:spcPts val="0"/>
              </a:spcAft>
            </a:pPr>
            <a:r>
              <a:rPr sz="3000" b="1" i="0">
                <a:solidFill>
                  <a:srgbClr val="1A202C"/>
                </a:solidFill>
                <a:latin typeface="Calibri"/>
              </a:rPr>
              <a:t>The factory record and Sage 50 can be compared.</a:t>
            </a:r>
          </a:p>
        </p:txBody>
      </p:sp>
      <p:sp>
        <p:nvSpPr>
          <p:cNvPr id="5" name="Rounded Rectangle 4"/>
          <p:cNvSpPr/>
          <p:nvPr/>
        </p:nvSpPr>
        <p:spPr>
          <a:xfrm>
            <a:off x="457200" y="1353312"/>
            <a:ext cx="5623560" cy="141732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17904"/>
            <a:ext cx="5212080" cy="329184"/>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Period view</a:t>
            </a:r>
          </a:p>
        </p:txBody>
      </p:sp>
      <p:sp>
        <p:nvSpPr>
          <p:cNvPr id="7" name="TextBox 6"/>
          <p:cNvSpPr txBox="1"/>
          <p:nvPr/>
        </p:nvSpPr>
        <p:spPr>
          <a:xfrm>
            <a:off x="685800" y="1920240"/>
            <a:ext cx="5212080" cy="658368"/>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Revenue, collections, receivables, and cash signals for a chosen period.</a:t>
            </a:r>
          </a:p>
        </p:txBody>
      </p:sp>
      <p:sp>
        <p:nvSpPr>
          <p:cNvPr id="8" name="Rounded Rectangle 7"/>
          <p:cNvSpPr/>
          <p:nvPr/>
        </p:nvSpPr>
        <p:spPr>
          <a:xfrm>
            <a:off x="6309360" y="1353312"/>
            <a:ext cx="5623560" cy="141732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517904"/>
            <a:ext cx="5212080" cy="329184"/>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Customer money</a:t>
            </a:r>
          </a:p>
        </p:txBody>
      </p:sp>
      <p:sp>
        <p:nvSpPr>
          <p:cNvPr id="10" name="TextBox 9"/>
          <p:cNvSpPr txBox="1"/>
          <p:nvPr/>
        </p:nvSpPr>
        <p:spPr>
          <a:xfrm>
            <a:off x="6537960" y="1920240"/>
            <a:ext cx="5212080" cy="658368"/>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Statements, aging buckets, and a payment report.</a:t>
            </a:r>
          </a:p>
        </p:txBody>
      </p:sp>
      <p:sp>
        <p:nvSpPr>
          <p:cNvPr id="11" name="Rounded Rectangle 10"/>
          <p:cNvSpPr/>
          <p:nvPr/>
        </p:nvSpPr>
        <p:spPr>
          <a:xfrm>
            <a:off x="457200" y="2907791"/>
            <a:ext cx="5623560" cy="141732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072384"/>
            <a:ext cx="5212080" cy="329184"/>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Cost and banks</a:t>
            </a:r>
          </a:p>
        </p:txBody>
      </p:sp>
      <p:sp>
        <p:nvSpPr>
          <p:cNvPr id="13" name="TextBox 12"/>
          <p:cNvSpPr txBox="1"/>
          <p:nvPr/>
        </p:nvSpPr>
        <p:spPr>
          <a:xfrm>
            <a:off x="685800" y="3474720"/>
            <a:ext cx="5212080" cy="658368"/>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Expenses, profitability, bank accounts, and bank transactions.</a:t>
            </a:r>
          </a:p>
        </p:txBody>
      </p:sp>
      <p:sp>
        <p:nvSpPr>
          <p:cNvPr id="14" name="Rounded Rectangle 13"/>
          <p:cNvSpPr/>
          <p:nvPr/>
        </p:nvSpPr>
        <p:spPr>
          <a:xfrm>
            <a:off x="6309360" y="2907791"/>
            <a:ext cx="5623560" cy="141732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3072384"/>
            <a:ext cx="5212080" cy="329184"/>
          </a:xfrm>
          <a:prstGeom prst="rect">
            <a:avLst/>
          </a:prstGeom>
          <a:noFill/>
        </p:spPr>
        <p:txBody>
          <a:bodyPr wrap="square" lIns="0" rIns="0" tIns="0" bIns="0" anchor="t"/>
          <a:lstStyle/>
          <a:p>
            <a:pPr algn="l">
              <a:spcBef>
                <a:spcPts val="0"/>
              </a:spcBef>
              <a:spcAft>
                <a:spcPts val="0"/>
              </a:spcAft>
            </a:pPr>
            <a:r>
              <a:rPr sz="1600" b="1" i="0">
                <a:solidFill>
                  <a:srgbClr val="1A202C"/>
                </a:solidFill>
                <a:latin typeface="Calibri"/>
              </a:rPr>
              <a:t>Tax settings</a:t>
            </a:r>
          </a:p>
        </p:txBody>
      </p:sp>
      <p:sp>
        <p:nvSpPr>
          <p:cNvPr id="16" name="TextBox 15"/>
          <p:cNvSpPr txBox="1"/>
          <p:nvPr/>
        </p:nvSpPr>
        <p:spPr>
          <a:xfrm>
            <a:off x="6537960" y="3474720"/>
            <a:ext cx="5212080" cy="658368"/>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VAT and withholding are settings. They apply on new orders.</a:t>
            </a:r>
          </a:p>
        </p:txBody>
      </p:sp>
      <p:sp>
        <p:nvSpPr>
          <p:cNvPr id="17" name="Rounded Rectangle 16"/>
          <p:cNvSpPr/>
          <p:nvPr/>
        </p:nvSpPr>
        <p:spPr>
          <a:xfrm>
            <a:off x="457200" y="4572000"/>
            <a:ext cx="11274552" cy="1691640"/>
          </a:xfrm>
          <a:prstGeom prst="roundRect">
            <a:avLst>
              <a:gd name="adj" fmla="val 6000"/>
            </a:avLst>
          </a:prstGeom>
          <a:solidFill>
            <a:srgbClr val="F0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736592"/>
            <a:ext cx="10789920" cy="274320"/>
          </a:xfrm>
          <a:prstGeom prst="rect">
            <a:avLst/>
          </a:prstGeom>
          <a:noFill/>
        </p:spPr>
        <p:txBody>
          <a:bodyPr wrap="square" lIns="0" rIns="0" tIns="0" bIns="0" anchor="t"/>
          <a:lstStyle/>
          <a:p>
            <a:pPr algn="l">
              <a:spcBef>
                <a:spcPts val="0"/>
              </a:spcBef>
              <a:spcAft>
                <a:spcPts val="0"/>
              </a:spcAft>
            </a:pPr>
            <a:r>
              <a:rPr sz="1200" b="1" i="0">
                <a:solidFill>
                  <a:srgbClr val="0054A6"/>
                </a:solidFill>
                <a:latin typeface="Calibri"/>
              </a:rPr>
              <a:t>SAGE 50  ·  CONFIRMED PATH, CLIENT-SPECIFIC CONNECTOR</a:t>
            </a:r>
          </a:p>
        </p:txBody>
      </p:sp>
      <p:sp>
        <p:nvSpPr>
          <p:cNvPr id="19" name="TextBox 18"/>
          <p:cNvSpPr txBox="1"/>
          <p:nvPr/>
        </p:nvSpPr>
        <p:spPr>
          <a:xfrm>
            <a:off x="685800" y="5074920"/>
            <a:ext cx="10789920" cy="9601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A Windows agent on the Sage PC sends data one way into HYBRID, on a timer or with Sync Now. The copy that ships reads an export file. During implementation we complete the reader for that client’s Sage 50 version. HYBRID does not replace Sage.</a:t>
            </a:r>
          </a:p>
        </p:txBody>
      </p:sp>
      <p:sp>
        <p:nvSpPr>
          <p:cNvPr id="20" name="Rectangle 19"/>
          <p:cNvSpPr/>
          <p:nvPr/>
        </p:nvSpPr>
        <p:spPr>
          <a:xfrm>
            <a:off x="457200" y="6510528"/>
            <a:ext cx="11274552" cy="9144"/>
          </a:xfrm>
          <a:prstGeom prst="rect">
            <a:avLst/>
          </a:prstGeom>
          <a:solidFill>
            <a:srgbClr val="E1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565392"/>
            <a:ext cx="2011680" cy="237744"/>
          </a:xfrm>
          <a:prstGeom prst="rect">
            <a:avLst/>
          </a:prstGeom>
          <a:noFill/>
        </p:spPr>
        <p:txBody>
          <a:bodyPr wrap="square" lIns="0" rIns="0" tIns="0" bIns="0" anchor="t"/>
          <a:lstStyle/>
          <a:p>
            <a:pPr algn="l">
              <a:spcBef>
                <a:spcPts val="0"/>
              </a:spcBef>
              <a:spcAft>
                <a:spcPts val="0"/>
              </a:spcAft>
            </a:pPr>
            <a:r>
              <a:rPr sz="1000" b="1" i="0">
                <a:solidFill>
                  <a:srgbClr val="5C6B73"/>
                </a:solidFill>
                <a:latin typeface="Calibri"/>
              </a:rPr>
              <a:t>ELECNOVATECH</a:t>
            </a:r>
          </a:p>
        </p:txBody>
      </p:sp>
      <p:sp>
        <p:nvSpPr>
          <p:cNvPr id="22" name="TextBox 21"/>
          <p:cNvSpPr txBox="1"/>
          <p:nvPr/>
        </p:nvSpPr>
        <p:spPr>
          <a:xfrm>
            <a:off x="2468880" y="6565392"/>
            <a:ext cx="5943600" cy="237744"/>
          </a:xfrm>
          <a:prstGeom prst="rect">
            <a:avLst/>
          </a:prstGeom>
          <a:noFill/>
        </p:spPr>
        <p:txBody>
          <a:bodyPr wrap="square" lIns="0" rIns="0" tIns="0" bIns="0" anchor="t"/>
          <a:lstStyle/>
          <a:p>
            <a:pPr algn="ctr">
              <a:spcBef>
                <a:spcPts val="0"/>
              </a:spcBef>
              <a:spcAft>
                <a:spcPts val="0"/>
              </a:spcAft>
            </a:pPr>
            <a:r>
              <a:rPr sz="1000" b="0" i="0">
                <a:solidFill>
                  <a:srgbClr val="5C6B73"/>
                </a:solidFill>
                <a:latin typeface="Calibri"/>
              </a:rPr>
              <a:t>HYBRID  ·  Sales presentation</a:t>
            </a:r>
          </a:p>
        </p:txBody>
      </p:sp>
      <p:sp>
        <p:nvSpPr>
          <p:cNvPr id="23" name="TextBox 22"/>
          <p:cNvSpPr txBox="1"/>
          <p:nvPr/>
        </p:nvSpPr>
        <p:spPr>
          <a:xfrm>
            <a:off x="9509760" y="6565392"/>
            <a:ext cx="2221992" cy="237744"/>
          </a:xfrm>
          <a:prstGeom prst="rect">
            <a:avLst/>
          </a:prstGeom>
          <a:noFill/>
        </p:spPr>
        <p:txBody>
          <a:bodyPr wrap="square" lIns="0" rIns="0" tIns="0" bIns="0" anchor="t"/>
          <a:lstStyle/>
          <a:p>
            <a:pPr algn="r">
              <a:spcBef>
                <a:spcPts val="0"/>
              </a:spcBef>
              <a:spcAft>
                <a:spcPts val="0"/>
              </a:spcAft>
            </a:pPr>
            <a:r>
              <a:rPr sz="1000" b="1" i="0">
                <a:solidFill>
                  <a:srgbClr val="5C6B73"/>
                </a:solidFill>
                <a:latin typeface="Calibri"/>
              </a:rPr>
              <a:t>09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19456"/>
          </a:xfrm>
          <a:prstGeom prst="rect">
            <a:avLst/>
          </a:prstGeom>
          <a:noFill/>
        </p:spPr>
        <p:txBody>
          <a:bodyPr wrap="square" lIns="0" rIns="0" tIns="0" bIns="0" anchor="t"/>
          <a:lstStyle/>
          <a:p>
            <a:pPr algn="l">
              <a:spcBef>
                <a:spcPts val="0"/>
              </a:spcBef>
              <a:spcAft>
                <a:spcPts val="0"/>
              </a:spcAft>
            </a:pPr>
            <a:r>
              <a:rPr sz="1100" b="1" i="0">
                <a:solidFill>
                  <a:srgbClr val="2D5A27"/>
                </a:solidFill>
                <a:latin typeface="Calibri"/>
              </a:rPr>
              <a:t>CONTROL</a:t>
            </a:r>
          </a:p>
        </p:txBody>
      </p:sp>
      <p:sp>
        <p:nvSpPr>
          <p:cNvPr id="4" name="TextBox 3"/>
          <p:cNvSpPr txBox="1"/>
          <p:nvPr/>
        </p:nvSpPr>
        <p:spPr>
          <a:xfrm>
            <a:off x="457200" y="475488"/>
            <a:ext cx="10972800" cy="502920"/>
          </a:xfrm>
          <a:prstGeom prst="rect">
            <a:avLst/>
          </a:prstGeom>
          <a:noFill/>
        </p:spPr>
        <p:txBody>
          <a:bodyPr wrap="square" lIns="0" rIns="0" tIns="0" bIns="0" anchor="t"/>
          <a:lstStyle/>
          <a:p>
            <a:pPr algn="l">
              <a:spcBef>
                <a:spcPts val="0"/>
              </a:spcBef>
              <a:spcAft>
                <a:spcPts val="0"/>
              </a:spcAft>
            </a:pPr>
            <a:r>
              <a:rPr sz="3000" b="1" i="0">
                <a:solidFill>
                  <a:srgbClr val="1A202C"/>
                </a:solidFill>
                <a:latin typeface="Calibri"/>
              </a:rPr>
              <a:t>Stock, people, and a record of who changed what.</a:t>
            </a:r>
          </a:p>
        </p:txBody>
      </p:sp>
      <p:sp>
        <p:nvSpPr>
          <p:cNvPr id="5" name="Rounded Rectangle 4"/>
          <p:cNvSpPr/>
          <p:nvPr/>
        </p:nvSpPr>
        <p:spPr>
          <a:xfrm>
            <a:off x="457200" y="1353312"/>
            <a:ext cx="3703320" cy="480060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53312"/>
            <a:ext cx="3703320" cy="640080"/>
          </a:xfrm>
          <a:prstGeom prst="rect">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63040"/>
            <a:ext cx="3337560" cy="420624"/>
          </a:xfrm>
          <a:prstGeom prst="rect">
            <a:avLst/>
          </a:prstGeom>
          <a:noFill/>
        </p:spPr>
        <p:txBody>
          <a:bodyPr wrap="square" lIns="0" rIns="0" tIns="0" bIns="0" anchor="t"/>
          <a:lstStyle/>
          <a:p>
            <a:pPr algn="l">
              <a:spcBef>
                <a:spcPts val="0"/>
              </a:spcBef>
              <a:spcAft>
                <a:spcPts val="0"/>
              </a:spcAft>
            </a:pPr>
            <a:r>
              <a:rPr sz="1800" b="1" i="0">
                <a:solidFill>
                  <a:srgbClr val="FFFFFF"/>
                </a:solidFill>
                <a:latin typeface="Calibri"/>
              </a:rPr>
              <a:t>Inventory</a:t>
            </a:r>
          </a:p>
        </p:txBody>
      </p:sp>
      <p:sp>
        <p:nvSpPr>
          <p:cNvPr id="8" name="TextBox 7"/>
          <p:cNvSpPr txBox="1"/>
          <p:nvPr/>
        </p:nvSpPr>
        <p:spPr>
          <a:xfrm>
            <a:off x="658368" y="2194560"/>
            <a:ext cx="3291840" cy="6400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Live balances and a stock ledger</a:t>
            </a:r>
          </a:p>
        </p:txBody>
      </p:sp>
      <p:sp>
        <p:nvSpPr>
          <p:cNvPr id="9" name="TextBox 8"/>
          <p:cNvSpPr txBox="1"/>
          <p:nvPr/>
        </p:nvSpPr>
        <p:spPr>
          <a:xfrm>
            <a:off x="658368" y="2907791"/>
            <a:ext cx="3291840" cy="6400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Physical counts, including from the phone</a:t>
            </a:r>
          </a:p>
        </p:txBody>
      </p:sp>
      <p:sp>
        <p:nvSpPr>
          <p:cNvPr id="10" name="TextBox 9"/>
          <p:cNvSpPr txBox="1"/>
          <p:nvPr/>
        </p:nvSpPr>
        <p:spPr>
          <a:xfrm>
            <a:off x="658368" y="3621024"/>
            <a:ext cx="3291840" cy="6400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Low-stock markers</a:t>
            </a:r>
          </a:p>
        </p:txBody>
      </p:sp>
      <p:sp>
        <p:nvSpPr>
          <p:cNvPr id="11" name="TextBox 10"/>
          <p:cNvSpPr txBox="1"/>
          <p:nvPr/>
        </p:nvSpPr>
        <p:spPr>
          <a:xfrm>
            <a:off x="658368" y="4334256"/>
            <a:ext cx="3291840" cy="6400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Catalog of types, categories, and units</a:t>
            </a:r>
          </a:p>
        </p:txBody>
      </p:sp>
      <p:sp>
        <p:nvSpPr>
          <p:cNvPr id="12" name="TextBox 11"/>
          <p:cNvSpPr txBox="1"/>
          <p:nvPr/>
        </p:nvSpPr>
        <p:spPr>
          <a:xfrm>
            <a:off x="658368" y="5047488"/>
            <a:ext cx="3291840" cy="6400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Purchasing and supplier balances</a:t>
            </a:r>
          </a:p>
        </p:txBody>
      </p:sp>
      <p:sp>
        <p:nvSpPr>
          <p:cNvPr id="13" name="Rounded Rectangle 12"/>
          <p:cNvSpPr/>
          <p:nvPr/>
        </p:nvSpPr>
        <p:spPr>
          <a:xfrm>
            <a:off x="4343400" y="1353312"/>
            <a:ext cx="3703320" cy="480060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43400" y="1353312"/>
            <a:ext cx="3703320" cy="64008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463040"/>
            <a:ext cx="3337560" cy="420624"/>
          </a:xfrm>
          <a:prstGeom prst="rect">
            <a:avLst/>
          </a:prstGeom>
          <a:noFill/>
        </p:spPr>
        <p:txBody>
          <a:bodyPr wrap="square" lIns="0" rIns="0" tIns="0" bIns="0" anchor="t"/>
          <a:lstStyle/>
          <a:p>
            <a:pPr algn="l">
              <a:spcBef>
                <a:spcPts val="0"/>
              </a:spcBef>
              <a:spcAft>
                <a:spcPts val="0"/>
              </a:spcAft>
            </a:pPr>
            <a:r>
              <a:rPr sz="1800" b="1" i="0">
                <a:solidFill>
                  <a:srgbClr val="FFFFFF"/>
                </a:solidFill>
                <a:latin typeface="Calibri"/>
              </a:rPr>
              <a:t>People</a:t>
            </a:r>
          </a:p>
        </p:txBody>
      </p:sp>
      <p:sp>
        <p:nvSpPr>
          <p:cNvPr id="16" name="TextBox 15"/>
          <p:cNvSpPr txBox="1"/>
          <p:nvPr/>
        </p:nvSpPr>
        <p:spPr>
          <a:xfrm>
            <a:off x="4544568" y="2194560"/>
            <a:ext cx="3291840" cy="6400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Employee records and attendance</a:t>
            </a:r>
          </a:p>
        </p:txBody>
      </p:sp>
      <p:sp>
        <p:nvSpPr>
          <p:cNvPr id="17" name="TextBox 16"/>
          <p:cNvSpPr txBox="1"/>
          <p:nvPr/>
        </p:nvSpPr>
        <p:spPr>
          <a:xfrm>
            <a:off x="4544568" y="2907791"/>
            <a:ext cx="3291840" cy="6400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Leave types, holidays, and approvals</a:t>
            </a:r>
          </a:p>
        </p:txBody>
      </p:sp>
      <p:sp>
        <p:nvSpPr>
          <p:cNvPr id="18" name="TextBox 17"/>
          <p:cNvSpPr txBox="1"/>
          <p:nvPr/>
        </p:nvSpPr>
        <p:spPr>
          <a:xfrm>
            <a:off x="4544568" y="3621024"/>
            <a:ext cx="3291840" cy="6400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Payroll calculated from the company’s rates, shifts, and attendance</a:t>
            </a:r>
          </a:p>
        </p:txBody>
      </p:sp>
      <p:sp>
        <p:nvSpPr>
          <p:cNvPr id="19" name="TextBox 18"/>
          <p:cNvSpPr txBox="1"/>
          <p:nvPr/>
        </p:nvSpPr>
        <p:spPr>
          <a:xfrm>
            <a:off x="4544568" y="4334256"/>
            <a:ext cx="3291840" cy="6400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Payslips, with salary hidden unless the role allows it</a:t>
            </a:r>
          </a:p>
        </p:txBody>
      </p:sp>
      <p:sp>
        <p:nvSpPr>
          <p:cNvPr id="20" name="TextBox 19"/>
          <p:cNvSpPr txBox="1"/>
          <p:nvPr/>
        </p:nvSpPr>
        <p:spPr>
          <a:xfrm>
            <a:off x="4544568" y="5047488"/>
            <a:ext cx="3291840" cy="6400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Attendance corrections</a:t>
            </a:r>
          </a:p>
        </p:txBody>
      </p:sp>
      <p:sp>
        <p:nvSpPr>
          <p:cNvPr id="21" name="Rounded Rectangle 20"/>
          <p:cNvSpPr/>
          <p:nvPr/>
        </p:nvSpPr>
        <p:spPr>
          <a:xfrm>
            <a:off x="8229600" y="1353312"/>
            <a:ext cx="3703320" cy="480060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0" y="1353312"/>
            <a:ext cx="3703320" cy="640080"/>
          </a:xfrm>
          <a:prstGeom prst="rect">
            <a:avLst/>
          </a:prstGeom>
          <a:solidFill>
            <a:srgbClr val="2D5A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0" y="1463040"/>
            <a:ext cx="3337560" cy="420624"/>
          </a:xfrm>
          <a:prstGeom prst="rect">
            <a:avLst/>
          </a:prstGeom>
          <a:noFill/>
        </p:spPr>
        <p:txBody>
          <a:bodyPr wrap="square" lIns="0" rIns="0" tIns="0" bIns="0" anchor="t"/>
          <a:lstStyle/>
          <a:p>
            <a:pPr algn="l">
              <a:spcBef>
                <a:spcPts val="0"/>
              </a:spcBef>
              <a:spcAft>
                <a:spcPts val="0"/>
              </a:spcAft>
            </a:pPr>
            <a:r>
              <a:rPr sz="1800" b="1" i="0">
                <a:solidFill>
                  <a:srgbClr val="FFFFFF"/>
                </a:solidFill>
                <a:latin typeface="Calibri"/>
              </a:rPr>
              <a:t>Governance</a:t>
            </a:r>
          </a:p>
        </p:txBody>
      </p:sp>
      <p:sp>
        <p:nvSpPr>
          <p:cNvPr id="24" name="TextBox 23"/>
          <p:cNvSpPr txBox="1"/>
          <p:nvPr/>
        </p:nvSpPr>
        <p:spPr>
          <a:xfrm>
            <a:off x="8430768" y="2194560"/>
            <a:ext cx="3291840" cy="6400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Roles from owner to driver</a:t>
            </a:r>
          </a:p>
        </p:txBody>
      </p:sp>
      <p:sp>
        <p:nvSpPr>
          <p:cNvPr id="25" name="TextBox 24"/>
          <p:cNvSpPr txBox="1"/>
          <p:nvPr/>
        </p:nvSpPr>
        <p:spPr>
          <a:xfrm>
            <a:off x="8430768" y="2907791"/>
            <a:ext cx="3291840" cy="6400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Permissions stored as data and editable</a:t>
            </a:r>
          </a:p>
        </p:txBody>
      </p:sp>
      <p:sp>
        <p:nvSpPr>
          <p:cNvPr id="26" name="TextBox 25"/>
          <p:cNvSpPr txBox="1"/>
          <p:nvPr/>
        </p:nvSpPr>
        <p:spPr>
          <a:xfrm>
            <a:off x="8430768" y="3621024"/>
            <a:ext cx="3291840" cy="6400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Audit log on key records</a:t>
            </a:r>
          </a:p>
        </p:txBody>
      </p:sp>
      <p:sp>
        <p:nvSpPr>
          <p:cNvPr id="27" name="TextBox 26"/>
          <p:cNvSpPr txBox="1"/>
          <p:nvPr/>
        </p:nvSpPr>
        <p:spPr>
          <a:xfrm>
            <a:off x="8430768" y="4334256"/>
            <a:ext cx="3291840" cy="6400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Documents, with tags and restricted files</a:t>
            </a:r>
          </a:p>
        </p:txBody>
      </p:sp>
      <p:sp>
        <p:nvSpPr>
          <p:cNvPr id="28" name="TextBox 27"/>
          <p:cNvSpPr txBox="1"/>
          <p:nvPr/>
        </p:nvSpPr>
        <p:spPr>
          <a:xfrm>
            <a:off x="8430768" y="5047488"/>
            <a:ext cx="3291840" cy="6400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In-app notifications</a:t>
            </a:r>
          </a:p>
        </p:txBody>
      </p:sp>
      <p:sp>
        <p:nvSpPr>
          <p:cNvPr id="29" name="Rectangle 28"/>
          <p:cNvSpPr/>
          <p:nvPr/>
        </p:nvSpPr>
        <p:spPr>
          <a:xfrm>
            <a:off x="457200" y="6510528"/>
            <a:ext cx="11274552" cy="9144"/>
          </a:xfrm>
          <a:prstGeom prst="rect">
            <a:avLst/>
          </a:prstGeom>
          <a:solidFill>
            <a:srgbClr val="E1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6565392"/>
            <a:ext cx="2011680" cy="237744"/>
          </a:xfrm>
          <a:prstGeom prst="rect">
            <a:avLst/>
          </a:prstGeom>
          <a:noFill/>
        </p:spPr>
        <p:txBody>
          <a:bodyPr wrap="square" lIns="0" rIns="0" tIns="0" bIns="0" anchor="t"/>
          <a:lstStyle/>
          <a:p>
            <a:pPr algn="l">
              <a:spcBef>
                <a:spcPts val="0"/>
              </a:spcBef>
              <a:spcAft>
                <a:spcPts val="0"/>
              </a:spcAft>
            </a:pPr>
            <a:r>
              <a:rPr sz="1000" b="1" i="0">
                <a:solidFill>
                  <a:srgbClr val="5C6B73"/>
                </a:solidFill>
                <a:latin typeface="Calibri"/>
              </a:rPr>
              <a:t>ELECNOVATECH</a:t>
            </a:r>
          </a:p>
        </p:txBody>
      </p:sp>
      <p:sp>
        <p:nvSpPr>
          <p:cNvPr id="31" name="TextBox 30"/>
          <p:cNvSpPr txBox="1"/>
          <p:nvPr/>
        </p:nvSpPr>
        <p:spPr>
          <a:xfrm>
            <a:off x="2468880" y="6565392"/>
            <a:ext cx="5943600" cy="237744"/>
          </a:xfrm>
          <a:prstGeom prst="rect">
            <a:avLst/>
          </a:prstGeom>
          <a:noFill/>
        </p:spPr>
        <p:txBody>
          <a:bodyPr wrap="square" lIns="0" rIns="0" tIns="0" bIns="0" anchor="t"/>
          <a:lstStyle/>
          <a:p>
            <a:pPr algn="ctr">
              <a:spcBef>
                <a:spcPts val="0"/>
              </a:spcBef>
              <a:spcAft>
                <a:spcPts val="0"/>
              </a:spcAft>
            </a:pPr>
            <a:r>
              <a:rPr sz="1000" b="0" i="0">
                <a:solidFill>
                  <a:srgbClr val="5C6B73"/>
                </a:solidFill>
                <a:latin typeface="Calibri"/>
              </a:rPr>
              <a:t>HYBRID  ·  Sales presentation</a:t>
            </a:r>
          </a:p>
        </p:txBody>
      </p:sp>
      <p:sp>
        <p:nvSpPr>
          <p:cNvPr id="32" name="TextBox 31"/>
          <p:cNvSpPr txBox="1"/>
          <p:nvPr/>
        </p:nvSpPr>
        <p:spPr>
          <a:xfrm>
            <a:off x="9509760" y="6565392"/>
            <a:ext cx="2221992" cy="237744"/>
          </a:xfrm>
          <a:prstGeom prst="rect">
            <a:avLst/>
          </a:prstGeom>
          <a:noFill/>
        </p:spPr>
        <p:txBody>
          <a:bodyPr wrap="square" lIns="0" rIns="0" tIns="0" bIns="0" anchor="t"/>
          <a:lstStyle/>
          <a:p>
            <a:pPr algn="r">
              <a:spcBef>
                <a:spcPts val="0"/>
              </a:spcBef>
              <a:spcAft>
                <a:spcPts val="0"/>
              </a:spcAft>
            </a:pPr>
            <a:r>
              <a:rPr sz="1000" b="1" i="0">
                <a:solidFill>
                  <a:srgbClr val="5C6B73"/>
                </a:solidFill>
                <a:latin typeface="Calibri"/>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19456"/>
          </a:xfrm>
          <a:prstGeom prst="rect">
            <a:avLst/>
          </a:prstGeom>
          <a:noFill/>
        </p:spPr>
        <p:txBody>
          <a:bodyPr wrap="square" lIns="0" rIns="0" tIns="0" bIns="0" anchor="t"/>
          <a:lstStyle/>
          <a:p>
            <a:pPr algn="l">
              <a:spcBef>
                <a:spcPts val="0"/>
              </a:spcBef>
              <a:spcAft>
                <a:spcPts val="0"/>
              </a:spcAft>
            </a:pPr>
            <a:r>
              <a:rPr sz="1100" b="1" i="0">
                <a:solidFill>
                  <a:srgbClr val="2D5A27"/>
                </a:solidFill>
                <a:latin typeface="Calibri"/>
              </a:rPr>
              <a:t>FLOOR TOOLS AND PLANNING</a:t>
            </a:r>
          </a:p>
        </p:txBody>
      </p:sp>
      <p:sp>
        <p:nvSpPr>
          <p:cNvPr id="4" name="TextBox 3"/>
          <p:cNvSpPr txBox="1"/>
          <p:nvPr/>
        </p:nvSpPr>
        <p:spPr>
          <a:xfrm>
            <a:off x="457200" y="475488"/>
            <a:ext cx="10972800" cy="502920"/>
          </a:xfrm>
          <a:prstGeom prst="rect">
            <a:avLst/>
          </a:prstGeom>
          <a:noFill/>
        </p:spPr>
        <p:txBody>
          <a:bodyPr wrap="square" lIns="0" rIns="0" tIns="0" bIns="0" anchor="t"/>
          <a:lstStyle/>
          <a:p>
            <a:pPr algn="l">
              <a:spcBef>
                <a:spcPts val="0"/>
              </a:spcBef>
              <a:spcAft>
                <a:spcPts val="0"/>
              </a:spcAft>
            </a:pPr>
            <a:r>
              <a:rPr sz="3000" b="1" i="0">
                <a:solidFill>
                  <a:srgbClr val="1A202C"/>
                </a:solidFill>
                <a:latin typeface="Calibri"/>
              </a:rPr>
              <a:t>Short actions on the phone. Numbers from the records.</a:t>
            </a:r>
          </a:p>
        </p:txBody>
      </p:sp>
      <p:sp>
        <p:nvSpPr>
          <p:cNvPr id="5" name="Rounded Rectangle 4"/>
          <p:cNvSpPr/>
          <p:nvPr/>
        </p:nvSpPr>
        <p:spPr>
          <a:xfrm>
            <a:off x="457200" y="1371600"/>
            <a:ext cx="5623560" cy="480060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554480"/>
            <a:ext cx="5120640" cy="274320"/>
          </a:xfrm>
          <a:prstGeom prst="rect">
            <a:avLst/>
          </a:prstGeom>
          <a:noFill/>
        </p:spPr>
        <p:txBody>
          <a:bodyPr wrap="square" lIns="0" rIns="0" tIns="0" bIns="0" anchor="t"/>
          <a:lstStyle/>
          <a:p>
            <a:pPr algn="l">
              <a:spcBef>
                <a:spcPts val="0"/>
              </a:spcBef>
              <a:spcAft>
                <a:spcPts val="0"/>
              </a:spcAft>
            </a:pPr>
            <a:r>
              <a:rPr sz="1200" b="1" i="0">
                <a:solidFill>
                  <a:srgbClr val="2D5A27"/>
                </a:solidFill>
                <a:latin typeface="Calibri"/>
              </a:rPr>
              <a:t>PHONE  ·  CONFIRMED</a:t>
            </a:r>
          </a:p>
        </p:txBody>
      </p:sp>
      <p:sp>
        <p:nvSpPr>
          <p:cNvPr id="7" name="TextBox 6"/>
          <p:cNvSpPr txBox="1"/>
          <p:nvPr/>
        </p:nvSpPr>
        <p:spPr>
          <a:xfrm>
            <a:off x="685800" y="1901952"/>
            <a:ext cx="5120640" cy="365760"/>
          </a:xfrm>
          <a:prstGeom prst="rect">
            <a:avLst/>
          </a:prstGeom>
          <a:noFill/>
        </p:spPr>
        <p:txBody>
          <a:bodyPr wrap="square" lIns="0" rIns="0" tIns="0" bIns="0" anchor="t"/>
          <a:lstStyle/>
          <a:p>
            <a:pPr algn="l">
              <a:spcBef>
                <a:spcPts val="0"/>
              </a:spcBef>
              <a:spcAft>
                <a:spcPts val="0"/>
              </a:spcAft>
            </a:pPr>
            <a:r>
              <a:rPr sz="1800" b="1" i="0">
                <a:solidFill>
                  <a:srgbClr val="1A202C"/>
                </a:solidFill>
                <a:latin typeface="Calibri"/>
              </a:rPr>
              <a:t>A phone browser, organized by role.</a:t>
            </a:r>
          </a:p>
        </p:txBody>
      </p:sp>
      <p:sp>
        <p:nvSpPr>
          <p:cNvPr id="8" name="TextBox 7"/>
          <p:cNvSpPr txBox="1"/>
          <p:nvPr/>
        </p:nvSpPr>
        <p:spPr>
          <a:xfrm>
            <a:off x="685800" y="2468880"/>
            <a:ext cx="5120640" cy="50292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Floor — production count and stock count</a:t>
            </a:r>
          </a:p>
        </p:txBody>
      </p:sp>
      <p:sp>
        <p:nvSpPr>
          <p:cNvPr id="9" name="TextBox 8"/>
          <p:cNvSpPr txBox="1"/>
          <p:nvPr/>
        </p:nvSpPr>
        <p:spPr>
          <a:xfrm>
            <a:off x="685800" y="3090672"/>
            <a:ext cx="5120640" cy="50292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Warehouse — stock count and a movement</a:t>
            </a:r>
          </a:p>
        </p:txBody>
      </p:sp>
      <p:sp>
        <p:nvSpPr>
          <p:cNvPr id="10" name="TextBox 9"/>
          <p:cNvSpPr txBox="1"/>
          <p:nvPr/>
        </p:nvSpPr>
        <p:spPr>
          <a:xfrm>
            <a:off x="685800" y="3712464"/>
            <a:ext cx="5120640" cy="50292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Driver — delivery proof only</a:t>
            </a:r>
          </a:p>
        </p:txBody>
      </p:sp>
      <p:sp>
        <p:nvSpPr>
          <p:cNvPr id="11" name="TextBox 10"/>
          <p:cNvSpPr txBox="1"/>
          <p:nvPr/>
        </p:nvSpPr>
        <p:spPr>
          <a:xfrm>
            <a:off x="685800" y="4334256"/>
            <a:ext cx="5120640" cy="50292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Factory manager — all four actions</a:t>
            </a:r>
          </a:p>
        </p:txBody>
      </p:sp>
      <p:sp>
        <p:nvSpPr>
          <p:cNvPr id="12" name="TextBox 11"/>
          <p:cNvSpPr txBox="1"/>
          <p:nvPr/>
        </p:nvSpPr>
        <p:spPr>
          <a:xfrm>
            <a:off x="685800" y="4956048"/>
            <a:ext cx="5120640" cy="50292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Works from a queue when the phone is offline</a:t>
            </a:r>
          </a:p>
        </p:txBody>
      </p:sp>
      <p:sp>
        <p:nvSpPr>
          <p:cNvPr id="13" name="Rounded Rectangle 12"/>
          <p:cNvSpPr/>
          <p:nvPr/>
        </p:nvSpPr>
        <p:spPr>
          <a:xfrm>
            <a:off x="6309360" y="1371600"/>
            <a:ext cx="5422392" cy="4800600"/>
          </a:xfrm>
          <a:prstGeom prst="roundRect">
            <a:avLst>
              <a:gd name="adj" fmla="val 8000"/>
            </a:avLst>
          </a:prstGeom>
          <a:solidFill>
            <a:srgbClr val="F3F8EC"/>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554480"/>
            <a:ext cx="4983480" cy="274320"/>
          </a:xfrm>
          <a:prstGeom prst="rect">
            <a:avLst/>
          </a:prstGeom>
          <a:noFill/>
        </p:spPr>
        <p:txBody>
          <a:bodyPr wrap="square" lIns="0" rIns="0" tIns="0" bIns="0" anchor="t"/>
          <a:lstStyle/>
          <a:p>
            <a:pPr algn="l">
              <a:spcBef>
                <a:spcPts val="0"/>
              </a:spcBef>
              <a:spcAft>
                <a:spcPts val="0"/>
              </a:spcAft>
            </a:pPr>
            <a:r>
              <a:rPr sz="1200" b="1" i="0">
                <a:solidFill>
                  <a:srgbClr val="2D5A27"/>
                </a:solidFill>
                <a:latin typeface="Calibri"/>
              </a:rPr>
              <a:t>PLANNING  ·  CONFIRMED</a:t>
            </a:r>
          </a:p>
        </p:txBody>
      </p:sp>
      <p:sp>
        <p:nvSpPr>
          <p:cNvPr id="15" name="TextBox 14"/>
          <p:cNvSpPr txBox="1"/>
          <p:nvPr/>
        </p:nvSpPr>
        <p:spPr>
          <a:xfrm>
            <a:off x="6537960" y="1901952"/>
            <a:ext cx="4983480" cy="365760"/>
          </a:xfrm>
          <a:prstGeom prst="rect">
            <a:avLst/>
          </a:prstGeom>
          <a:noFill/>
        </p:spPr>
        <p:txBody>
          <a:bodyPr wrap="square" lIns="0" rIns="0" tIns="0" bIns="0" anchor="t"/>
          <a:lstStyle/>
          <a:p>
            <a:pPr algn="l">
              <a:spcBef>
                <a:spcPts val="0"/>
              </a:spcBef>
              <a:spcAft>
                <a:spcPts val="0"/>
              </a:spcAft>
            </a:pPr>
            <a:r>
              <a:rPr sz="1800" b="1" i="0">
                <a:solidFill>
                  <a:srgbClr val="1A202C"/>
                </a:solidFill>
                <a:latin typeface="Calibri"/>
              </a:rPr>
              <a:t>Calculated in the product.</a:t>
            </a:r>
          </a:p>
        </p:txBody>
      </p:sp>
      <p:sp>
        <p:nvSpPr>
          <p:cNvPr id="16" name="TextBox 15"/>
          <p:cNvSpPr txBox="1"/>
          <p:nvPr/>
        </p:nvSpPr>
        <p:spPr>
          <a:xfrm>
            <a:off x="6537960" y="2468880"/>
            <a:ext cx="4937760" cy="77724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Block capacity from cement and poliche on hand, by size.</a:t>
            </a:r>
          </a:p>
        </p:txBody>
      </p:sp>
      <p:sp>
        <p:nvSpPr>
          <p:cNvPr id="17" name="TextBox 16"/>
          <p:cNvSpPr txBox="1"/>
          <p:nvPr/>
        </p:nvSpPr>
        <p:spPr>
          <a:xfrm>
            <a:off x="6537960" y="3291840"/>
            <a:ext cx="4937760" cy="77724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Waste and yield drawn from daily history, with a confidence level.</a:t>
            </a:r>
          </a:p>
        </p:txBody>
      </p:sp>
      <p:sp>
        <p:nvSpPr>
          <p:cNvPr id="18" name="TextBox 17"/>
          <p:cNvSpPr txBox="1"/>
          <p:nvPr/>
        </p:nvSpPr>
        <p:spPr>
          <a:xfrm>
            <a:off x="6537960" y="4114800"/>
            <a:ext cx="4937760" cy="77724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Customer credit score, tier, and limit from that customer’s payments.</a:t>
            </a:r>
          </a:p>
        </p:txBody>
      </p:sp>
      <p:sp>
        <p:nvSpPr>
          <p:cNvPr id="19" name="TextBox 18"/>
          <p:cNvSpPr txBox="1"/>
          <p:nvPr/>
        </p:nvSpPr>
        <p:spPr>
          <a:xfrm>
            <a:off x="6537960" y="4937760"/>
            <a:ext cx="4937760" cy="77724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Plain-language answers only when an AI key is configured. The figures still come from HYBRID.</a:t>
            </a:r>
          </a:p>
        </p:txBody>
      </p:sp>
      <p:sp>
        <p:nvSpPr>
          <p:cNvPr id="20" name="Rectangle 19"/>
          <p:cNvSpPr/>
          <p:nvPr/>
        </p:nvSpPr>
        <p:spPr>
          <a:xfrm>
            <a:off x="457200" y="6510528"/>
            <a:ext cx="11274552" cy="9144"/>
          </a:xfrm>
          <a:prstGeom prst="rect">
            <a:avLst/>
          </a:prstGeom>
          <a:solidFill>
            <a:srgbClr val="E1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565392"/>
            <a:ext cx="2011680" cy="237744"/>
          </a:xfrm>
          <a:prstGeom prst="rect">
            <a:avLst/>
          </a:prstGeom>
          <a:noFill/>
        </p:spPr>
        <p:txBody>
          <a:bodyPr wrap="square" lIns="0" rIns="0" tIns="0" bIns="0" anchor="t"/>
          <a:lstStyle/>
          <a:p>
            <a:pPr algn="l">
              <a:spcBef>
                <a:spcPts val="0"/>
              </a:spcBef>
              <a:spcAft>
                <a:spcPts val="0"/>
              </a:spcAft>
            </a:pPr>
            <a:r>
              <a:rPr sz="1000" b="1" i="0">
                <a:solidFill>
                  <a:srgbClr val="5C6B73"/>
                </a:solidFill>
                <a:latin typeface="Calibri"/>
              </a:rPr>
              <a:t>ELECNOVATECH</a:t>
            </a:r>
          </a:p>
        </p:txBody>
      </p:sp>
      <p:sp>
        <p:nvSpPr>
          <p:cNvPr id="22" name="TextBox 21"/>
          <p:cNvSpPr txBox="1"/>
          <p:nvPr/>
        </p:nvSpPr>
        <p:spPr>
          <a:xfrm>
            <a:off x="2468880" y="6565392"/>
            <a:ext cx="5943600" cy="237744"/>
          </a:xfrm>
          <a:prstGeom prst="rect">
            <a:avLst/>
          </a:prstGeom>
          <a:noFill/>
        </p:spPr>
        <p:txBody>
          <a:bodyPr wrap="square" lIns="0" rIns="0" tIns="0" bIns="0" anchor="t"/>
          <a:lstStyle/>
          <a:p>
            <a:pPr algn="ctr">
              <a:spcBef>
                <a:spcPts val="0"/>
              </a:spcBef>
              <a:spcAft>
                <a:spcPts val="0"/>
              </a:spcAft>
            </a:pPr>
            <a:r>
              <a:rPr sz="1000" b="0" i="0">
                <a:solidFill>
                  <a:srgbClr val="5C6B73"/>
                </a:solidFill>
                <a:latin typeface="Calibri"/>
              </a:rPr>
              <a:t>HYBRID  ·  Sales presentation</a:t>
            </a:r>
          </a:p>
        </p:txBody>
      </p:sp>
      <p:sp>
        <p:nvSpPr>
          <p:cNvPr id="23" name="TextBox 22"/>
          <p:cNvSpPr txBox="1"/>
          <p:nvPr/>
        </p:nvSpPr>
        <p:spPr>
          <a:xfrm>
            <a:off x="9509760" y="6565392"/>
            <a:ext cx="2221992" cy="237744"/>
          </a:xfrm>
          <a:prstGeom prst="rect">
            <a:avLst/>
          </a:prstGeom>
          <a:noFill/>
        </p:spPr>
        <p:txBody>
          <a:bodyPr wrap="square" lIns="0" rIns="0" tIns="0" bIns="0" anchor="t"/>
          <a:lstStyle/>
          <a:p>
            <a:pPr algn="r">
              <a:spcBef>
                <a:spcPts val="0"/>
              </a:spcBef>
              <a:spcAft>
                <a:spcPts val="0"/>
              </a:spcAft>
            </a:pPr>
            <a:r>
              <a:rPr sz="1000" b="1" i="0">
                <a:solidFill>
                  <a:srgbClr val="5C6B73"/>
                </a:solidFill>
                <a:latin typeface="Calibri"/>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19456"/>
          </a:xfrm>
          <a:prstGeom prst="rect">
            <a:avLst/>
          </a:prstGeom>
          <a:noFill/>
        </p:spPr>
        <p:txBody>
          <a:bodyPr wrap="square" lIns="0" rIns="0" tIns="0" bIns="0" anchor="t"/>
          <a:lstStyle/>
          <a:p>
            <a:pPr algn="l">
              <a:spcBef>
                <a:spcPts val="0"/>
              </a:spcBef>
              <a:spcAft>
                <a:spcPts val="0"/>
              </a:spcAft>
            </a:pPr>
            <a:r>
              <a:rPr sz="1100" b="1" i="0">
                <a:solidFill>
                  <a:srgbClr val="2D5A27"/>
                </a:solidFill>
                <a:latin typeface="Calibri"/>
              </a:rPr>
              <a:t>HOW TO TALK ABOUT SCOPE</a:t>
            </a:r>
          </a:p>
        </p:txBody>
      </p:sp>
      <p:sp>
        <p:nvSpPr>
          <p:cNvPr id="4" name="TextBox 3"/>
          <p:cNvSpPr txBox="1"/>
          <p:nvPr/>
        </p:nvSpPr>
        <p:spPr>
          <a:xfrm>
            <a:off x="457200" y="475488"/>
            <a:ext cx="10972800" cy="502920"/>
          </a:xfrm>
          <a:prstGeom prst="rect">
            <a:avLst/>
          </a:prstGeom>
          <a:noFill/>
        </p:spPr>
        <p:txBody>
          <a:bodyPr wrap="square" lIns="0" rIns="0" tIns="0" bIns="0" anchor="t"/>
          <a:lstStyle/>
          <a:p>
            <a:pPr algn="l">
              <a:spcBef>
                <a:spcPts val="0"/>
              </a:spcBef>
              <a:spcAft>
                <a:spcPts val="0"/>
              </a:spcAft>
            </a:pPr>
            <a:r>
              <a:rPr sz="3000" b="1" i="0">
                <a:solidFill>
                  <a:srgbClr val="1A202C"/>
                </a:solidFill>
                <a:latin typeface="Calibri"/>
              </a:rPr>
              <a:t>Three words we keep separate in every sale.</a:t>
            </a:r>
          </a:p>
        </p:txBody>
      </p:sp>
      <p:sp>
        <p:nvSpPr>
          <p:cNvPr id="5" name="Rounded Rectangle 4"/>
          <p:cNvSpPr/>
          <p:nvPr/>
        </p:nvSpPr>
        <p:spPr>
          <a:xfrm>
            <a:off x="457200" y="1353312"/>
            <a:ext cx="3703320" cy="480060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353312"/>
            <a:ext cx="3703320" cy="1051560"/>
          </a:xfrm>
          <a:prstGeom prst="rect">
            <a:avLst/>
          </a:prstGeom>
          <a:solidFill>
            <a:srgbClr val="2D5A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17320"/>
            <a:ext cx="3337560" cy="384048"/>
          </a:xfrm>
          <a:prstGeom prst="rect">
            <a:avLst/>
          </a:prstGeom>
          <a:noFill/>
        </p:spPr>
        <p:txBody>
          <a:bodyPr wrap="square" lIns="0" rIns="0" tIns="0" bIns="0" anchor="t"/>
          <a:lstStyle/>
          <a:p>
            <a:pPr algn="l">
              <a:spcBef>
                <a:spcPts val="0"/>
              </a:spcBef>
              <a:spcAft>
                <a:spcPts val="0"/>
              </a:spcAft>
            </a:pPr>
            <a:r>
              <a:rPr sz="2000" b="1" i="0">
                <a:solidFill>
                  <a:srgbClr val="FFFFFF"/>
                </a:solidFill>
                <a:latin typeface="Calibri"/>
              </a:rPr>
              <a:t>Confirmed</a:t>
            </a:r>
          </a:p>
        </p:txBody>
      </p:sp>
      <p:sp>
        <p:nvSpPr>
          <p:cNvPr id="8" name="TextBox 7"/>
          <p:cNvSpPr txBox="1"/>
          <p:nvPr/>
        </p:nvSpPr>
        <p:spPr>
          <a:xfrm>
            <a:off x="640080" y="1847088"/>
            <a:ext cx="3337560" cy="365760"/>
          </a:xfrm>
          <a:prstGeom prst="rect">
            <a:avLst/>
          </a:prstGeom>
          <a:noFill/>
        </p:spPr>
        <p:txBody>
          <a:bodyPr wrap="square" lIns="0" rIns="0" tIns="0" bIns="0" anchor="t"/>
          <a:lstStyle/>
          <a:p>
            <a:pPr algn="l">
              <a:spcBef>
                <a:spcPts val="0"/>
              </a:spcBef>
              <a:spcAft>
                <a:spcPts val="0"/>
              </a:spcAft>
            </a:pPr>
            <a:r>
              <a:rPr sz="1200" b="0" i="0">
                <a:solidFill>
                  <a:srgbClr val="E5F2D8"/>
                </a:solidFill>
                <a:latin typeface="Calibri"/>
              </a:rPr>
              <a:t>In the product today</a:t>
            </a:r>
          </a:p>
        </p:txBody>
      </p:sp>
      <p:sp>
        <p:nvSpPr>
          <p:cNvPr id="9" name="TextBox 8"/>
          <p:cNvSpPr txBox="1"/>
          <p:nvPr/>
        </p:nvSpPr>
        <p:spPr>
          <a:xfrm>
            <a:off x="658368" y="2606040"/>
            <a:ext cx="3291840" cy="5029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Two site views plus a company view</a:t>
            </a:r>
          </a:p>
        </p:txBody>
      </p:sp>
      <p:sp>
        <p:nvSpPr>
          <p:cNvPr id="10" name="TextBox 9"/>
          <p:cNvSpPr txBox="1"/>
          <p:nvPr/>
        </p:nvSpPr>
        <p:spPr>
          <a:xfrm>
            <a:off x="658368" y="3136392"/>
            <a:ext cx="3291840" cy="5029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The modules on the previous slides</a:t>
            </a:r>
          </a:p>
        </p:txBody>
      </p:sp>
      <p:sp>
        <p:nvSpPr>
          <p:cNvPr id="11" name="TextBox 10"/>
          <p:cNvSpPr txBox="1"/>
          <p:nvPr/>
        </p:nvSpPr>
        <p:spPr>
          <a:xfrm>
            <a:off x="658368" y="3666744"/>
            <a:ext cx="3291840" cy="5029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Birr, VAT, withholding, TIN</a:t>
            </a:r>
          </a:p>
        </p:txBody>
      </p:sp>
      <p:sp>
        <p:nvSpPr>
          <p:cNvPr id="12" name="TextBox 11"/>
          <p:cNvSpPr txBox="1"/>
          <p:nvPr/>
        </p:nvSpPr>
        <p:spPr>
          <a:xfrm>
            <a:off x="658368" y="4197096"/>
            <a:ext cx="3291840" cy="5029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PDF and Excel export</a:t>
            </a:r>
          </a:p>
        </p:txBody>
      </p:sp>
      <p:sp>
        <p:nvSpPr>
          <p:cNvPr id="13" name="TextBox 12"/>
          <p:cNvSpPr txBox="1"/>
          <p:nvPr/>
        </p:nvSpPr>
        <p:spPr>
          <a:xfrm>
            <a:off x="658368" y="4727448"/>
            <a:ext cx="3291840" cy="5029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Role permissions and audit</a:t>
            </a:r>
          </a:p>
        </p:txBody>
      </p:sp>
      <p:sp>
        <p:nvSpPr>
          <p:cNvPr id="14" name="TextBox 13"/>
          <p:cNvSpPr txBox="1"/>
          <p:nvPr/>
        </p:nvSpPr>
        <p:spPr>
          <a:xfrm>
            <a:off x="658368" y="5257800"/>
            <a:ext cx="3291840" cy="5029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Phone actions and offline queue</a:t>
            </a:r>
          </a:p>
        </p:txBody>
      </p:sp>
      <p:sp>
        <p:nvSpPr>
          <p:cNvPr id="15" name="Rounded Rectangle 14"/>
          <p:cNvSpPr/>
          <p:nvPr/>
        </p:nvSpPr>
        <p:spPr>
          <a:xfrm>
            <a:off x="4343400" y="1353312"/>
            <a:ext cx="3703320" cy="480060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353312"/>
            <a:ext cx="3703320" cy="1051560"/>
          </a:xfrm>
          <a:prstGeom prst="rect">
            <a:avLst/>
          </a:prstGeom>
          <a:solidFill>
            <a:srgbClr val="005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1417320"/>
            <a:ext cx="3337560" cy="384048"/>
          </a:xfrm>
          <a:prstGeom prst="rect">
            <a:avLst/>
          </a:prstGeom>
          <a:noFill/>
        </p:spPr>
        <p:txBody>
          <a:bodyPr wrap="square" lIns="0" rIns="0" tIns="0" bIns="0" anchor="t"/>
          <a:lstStyle/>
          <a:p>
            <a:pPr algn="l">
              <a:spcBef>
                <a:spcPts val="0"/>
              </a:spcBef>
              <a:spcAft>
                <a:spcPts val="0"/>
              </a:spcAft>
            </a:pPr>
            <a:r>
              <a:rPr sz="2000" b="1" i="0">
                <a:solidFill>
                  <a:srgbClr val="FFFFFF"/>
                </a:solidFill>
                <a:latin typeface="Calibri"/>
              </a:rPr>
              <a:t>Configurable</a:t>
            </a:r>
          </a:p>
        </p:txBody>
      </p:sp>
      <p:sp>
        <p:nvSpPr>
          <p:cNvPr id="18" name="TextBox 17"/>
          <p:cNvSpPr txBox="1"/>
          <p:nvPr/>
        </p:nvSpPr>
        <p:spPr>
          <a:xfrm>
            <a:off x="4526280" y="1847088"/>
            <a:ext cx="3337560" cy="365760"/>
          </a:xfrm>
          <a:prstGeom prst="rect">
            <a:avLst/>
          </a:prstGeom>
          <a:noFill/>
        </p:spPr>
        <p:txBody>
          <a:bodyPr wrap="square" lIns="0" rIns="0" tIns="0" bIns="0" anchor="t"/>
          <a:lstStyle/>
          <a:p>
            <a:pPr algn="l">
              <a:spcBef>
                <a:spcPts val="0"/>
              </a:spcBef>
              <a:spcAft>
                <a:spcPts val="0"/>
              </a:spcAft>
            </a:pPr>
            <a:r>
              <a:rPr sz="1200" b="0" i="0">
                <a:solidFill>
                  <a:srgbClr val="E5F2D8"/>
                </a:solidFill>
                <a:latin typeface="Calibri"/>
              </a:rPr>
              <a:t>Settings, not new code</a:t>
            </a:r>
          </a:p>
        </p:txBody>
      </p:sp>
      <p:sp>
        <p:nvSpPr>
          <p:cNvPr id="19" name="TextBox 18"/>
          <p:cNvSpPr txBox="1"/>
          <p:nvPr/>
        </p:nvSpPr>
        <p:spPr>
          <a:xfrm>
            <a:off x="4544568" y="2606040"/>
            <a:ext cx="3291840" cy="5029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Yield formulas and bag weight</a:t>
            </a:r>
          </a:p>
        </p:txBody>
      </p:sp>
      <p:sp>
        <p:nvSpPr>
          <p:cNvPr id="20" name="TextBox 19"/>
          <p:cNvSpPr txBox="1"/>
          <p:nvPr/>
        </p:nvSpPr>
        <p:spPr>
          <a:xfrm>
            <a:off x="4544568" y="3136392"/>
            <a:ext cx="3291840" cy="5029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Daily targets</a:t>
            </a:r>
          </a:p>
        </p:txBody>
      </p:sp>
      <p:sp>
        <p:nvSpPr>
          <p:cNvPr id="21" name="TextBox 20"/>
          <p:cNvSpPr txBox="1"/>
          <p:nvPr/>
        </p:nvSpPr>
        <p:spPr>
          <a:xfrm>
            <a:off x="4544568" y="3666744"/>
            <a:ext cx="3291840" cy="5029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Tax rates and HR rules</a:t>
            </a:r>
          </a:p>
        </p:txBody>
      </p:sp>
      <p:sp>
        <p:nvSpPr>
          <p:cNvPr id="22" name="TextBox 21"/>
          <p:cNvSpPr txBox="1"/>
          <p:nvPr/>
        </p:nvSpPr>
        <p:spPr>
          <a:xfrm>
            <a:off x="4544568" y="4197096"/>
            <a:ext cx="3291840" cy="5029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Catalog, banks, and roles</a:t>
            </a:r>
          </a:p>
        </p:txBody>
      </p:sp>
      <p:sp>
        <p:nvSpPr>
          <p:cNvPr id="23" name="TextBox 22"/>
          <p:cNvSpPr txBox="1"/>
          <p:nvPr/>
        </p:nvSpPr>
        <p:spPr>
          <a:xfrm>
            <a:off x="4544568" y="4727448"/>
            <a:ext cx="3291840" cy="5029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Which site a person works in</a:t>
            </a:r>
          </a:p>
        </p:txBody>
      </p:sp>
      <p:sp>
        <p:nvSpPr>
          <p:cNvPr id="24" name="TextBox 23"/>
          <p:cNvSpPr txBox="1"/>
          <p:nvPr/>
        </p:nvSpPr>
        <p:spPr>
          <a:xfrm>
            <a:off x="4544568" y="5257800"/>
            <a:ext cx="3291840" cy="5029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Opening balances at go-live</a:t>
            </a:r>
          </a:p>
        </p:txBody>
      </p:sp>
      <p:sp>
        <p:nvSpPr>
          <p:cNvPr id="25" name="Rounded Rectangle 24"/>
          <p:cNvSpPr/>
          <p:nvPr/>
        </p:nvSpPr>
        <p:spPr>
          <a:xfrm>
            <a:off x="8229600" y="1353312"/>
            <a:ext cx="3703320" cy="480060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29600" y="1353312"/>
            <a:ext cx="3703320" cy="1051560"/>
          </a:xfrm>
          <a:prstGeom prst="rect">
            <a:avLst/>
          </a:prstGeom>
          <a:solidFill>
            <a:srgbClr val="8A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0" y="1417320"/>
            <a:ext cx="3337560" cy="384048"/>
          </a:xfrm>
          <a:prstGeom prst="rect">
            <a:avLst/>
          </a:prstGeom>
          <a:noFill/>
        </p:spPr>
        <p:txBody>
          <a:bodyPr wrap="square" lIns="0" rIns="0" tIns="0" bIns="0" anchor="t"/>
          <a:lstStyle/>
          <a:p>
            <a:pPr algn="l">
              <a:spcBef>
                <a:spcPts val="0"/>
              </a:spcBef>
              <a:spcAft>
                <a:spcPts val="0"/>
              </a:spcAft>
            </a:pPr>
            <a:r>
              <a:rPr sz="2000" b="1" i="0">
                <a:solidFill>
                  <a:srgbClr val="FFFFFF"/>
                </a:solidFill>
                <a:latin typeface="Calibri"/>
              </a:rPr>
              <a:t>Proposed</a:t>
            </a:r>
          </a:p>
        </p:txBody>
      </p:sp>
      <p:sp>
        <p:nvSpPr>
          <p:cNvPr id="28" name="TextBox 27"/>
          <p:cNvSpPr txBox="1"/>
          <p:nvPr/>
        </p:nvSpPr>
        <p:spPr>
          <a:xfrm>
            <a:off x="8412480" y="1847088"/>
            <a:ext cx="3337560" cy="365760"/>
          </a:xfrm>
          <a:prstGeom prst="rect">
            <a:avLst/>
          </a:prstGeom>
          <a:noFill/>
        </p:spPr>
        <p:txBody>
          <a:bodyPr wrap="square" lIns="0" rIns="0" tIns="0" bIns="0" anchor="t"/>
          <a:lstStyle/>
          <a:p>
            <a:pPr algn="l">
              <a:spcBef>
                <a:spcPts val="0"/>
              </a:spcBef>
              <a:spcAft>
                <a:spcPts val="0"/>
              </a:spcAft>
            </a:pPr>
            <a:r>
              <a:rPr sz="1200" b="0" i="0">
                <a:solidFill>
                  <a:srgbClr val="FFF4D8"/>
                </a:solidFill>
                <a:latin typeface="Calibri"/>
              </a:rPr>
              <a:t>Quoted before it is promised</a:t>
            </a:r>
          </a:p>
        </p:txBody>
      </p:sp>
      <p:sp>
        <p:nvSpPr>
          <p:cNvPr id="29" name="TextBox 28"/>
          <p:cNvSpPr txBox="1"/>
          <p:nvPr/>
        </p:nvSpPr>
        <p:spPr>
          <a:xfrm>
            <a:off x="8430768" y="2606040"/>
            <a:ext cx="3291840" cy="5029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Sage reader for their version</a:t>
            </a:r>
          </a:p>
        </p:txBody>
      </p:sp>
      <p:sp>
        <p:nvSpPr>
          <p:cNvPr id="30" name="TextBox 29"/>
          <p:cNvSpPr txBox="1"/>
          <p:nvPr/>
        </p:nvSpPr>
        <p:spPr>
          <a:xfrm>
            <a:off x="8430768" y="3136392"/>
            <a:ext cx="3291840" cy="5029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Amharic screens</a:t>
            </a:r>
          </a:p>
        </p:txBody>
      </p:sp>
      <p:sp>
        <p:nvSpPr>
          <p:cNvPr id="31" name="TextBox 30"/>
          <p:cNvSpPr txBox="1"/>
          <p:nvPr/>
        </p:nvSpPr>
        <p:spPr>
          <a:xfrm>
            <a:off x="8430768" y="3666744"/>
            <a:ext cx="3291840" cy="5029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Hidden stock tools switched on</a:t>
            </a:r>
          </a:p>
        </p:txBody>
      </p:sp>
      <p:sp>
        <p:nvSpPr>
          <p:cNvPr id="32" name="TextBox 31"/>
          <p:cNvSpPr txBox="1"/>
          <p:nvPr/>
        </p:nvSpPr>
        <p:spPr>
          <a:xfrm>
            <a:off x="8430768" y="4197096"/>
            <a:ext cx="3291840" cy="5029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A third site, or a new process</a:t>
            </a:r>
          </a:p>
        </p:txBody>
      </p:sp>
      <p:sp>
        <p:nvSpPr>
          <p:cNvPr id="33" name="TextBox 32"/>
          <p:cNvSpPr txBox="1"/>
          <p:nvPr/>
        </p:nvSpPr>
        <p:spPr>
          <a:xfrm>
            <a:off x="8430768" y="4727448"/>
            <a:ext cx="3291840" cy="5029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Emailed report schedules</a:t>
            </a:r>
          </a:p>
        </p:txBody>
      </p:sp>
      <p:sp>
        <p:nvSpPr>
          <p:cNvPr id="34" name="TextBox 33"/>
          <p:cNvSpPr txBox="1"/>
          <p:nvPr/>
        </p:nvSpPr>
        <p:spPr>
          <a:xfrm>
            <a:off x="8430768" y="5257800"/>
            <a:ext cx="3291840" cy="50292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Support terms and the fee</a:t>
            </a:r>
          </a:p>
        </p:txBody>
      </p:sp>
      <p:sp>
        <p:nvSpPr>
          <p:cNvPr id="35" name="Rectangle 34"/>
          <p:cNvSpPr/>
          <p:nvPr/>
        </p:nvSpPr>
        <p:spPr>
          <a:xfrm>
            <a:off x="457200" y="6510528"/>
            <a:ext cx="11274552" cy="9144"/>
          </a:xfrm>
          <a:prstGeom prst="rect">
            <a:avLst/>
          </a:prstGeom>
          <a:solidFill>
            <a:srgbClr val="E1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6565392"/>
            <a:ext cx="2011680" cy="237744"/>
          </a:xfrm>
          <a:prstGeom prst="rect">
            <a:avLst/>
          </a:prstGeom>
          <a:noFill/>
        </p:spPr>
        <p:txBody>
          <a:bodyPr wrap="square" lIns="0" rIns="0" tIns="0" bIns="0" anchor="t"/>
          <a:lstStyle/>
          <a:p>
            <a:pPr algn="l">
              <a:spcBef>
                <a:spcPts val="0"/>
              </a:spcBef>
              <a:spcAft>
                <a:spcPts val="0"/>
              </a:spcAft>
            </a:pPr>
            <a:r>
              <a:rPr sz="1000" b="1" i="0">
                <a:solidFill>
                  <a:srgbClr val="5C6B73"/>
                </a:solidFill>
                <a:latin typeface="Calibri"/>
              </a:rPr>
              <a:t>ELECNOVATECH</a:t>
            </a:r>
          </a:p>
        </p:txBody>
      </p:sp>
      <p:sp>
        <p:nvSpPr>
          <p:cNvPr id="37" name="TextBox 36"/>
          <p:cNvSpPr txBox="1"/>
          <p:nvPr/>
        </p:nvSpPr>
        <p:spPr>
          <a:xfrm>
            <a:off x="2468880" y="6565392"/>
            <a:ext cx="5943600" cy="237744"/>
          </a:xfrm>
          <a:prstGeom prst="rect">
            <a:avLst/>
          </a:prstGeom>
          <a:noFill/>
        </p:spPr>
        <p:txBody>
          <a:bodyPr wrap="square" lIns="0" rIns="0" tIns="0" bIns="0" anchor="t"/>
          <a:lstStyle/>
          <a:p>
            <a:pPr algn="ctr">
              <a:spcBef>
                <a:spcPts val="0"/>
              </a:spcBef>
              <a:spcAft>
                <a:spcPts val="0"/>
              </a:spcAft>
            </a:pPr>
            <a:r>
              <a:rPr sz="1000" b="0" i="0">
                <a:solidFill>
                  <a:srgbClr val="5C6B73"/>
                </a:solidFill>
                <a:latin typeface="Calibri"/>
              </a:rPr>
              <a:t>HYBRID  ·  Sales presentation</a:t>
            </a:r>
          </a:p>
        </p:txBody>
      </p:sp>
      <p:sp>
        <p:nvSpPr>
          <p:cNvPr id="38" name="TextBox 37"/>
          <p:cNvSpPr txBox="1"/>
          <p:nvPr/>
        </p:nvSpPr>
        <p:spPr>
          <a:xfrm>
            <a:off x="9509760" y="6565392"/>
            <a:ext cx="2221992" cy="237744"/>
          </a:xfrm>
          <a:prstGeom prst="rect">
            <a:avLst/>
          </a:prstGeom>
          <a:noFill/>
        </p:spPr>
        <p:txBody>
          <a:bodyPr wrap="square" lIns="0" rIns="0" tIns="0" bIns="0" anchor="t"/>
          <a:lstStyle/>
          <a:p>
            <a:pPr algn="r">
              <a:spcBef>
                <a:spcPts val="0"/>
              </a:spcBef>
              <a:spcAft>
                <a:spcPts val="0"/>
              </a:spcAft>
            </a:pPr>
            <a:r>
              <a:rPr sz="1000" b="1" i="0">
                <a:solidFill>
                  <a:srgbClr val="5C6B73"/>
                </a:solidFill>
                <a:latin typeface="Calibri"/>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19456"/>
          </a:xfrm>
          <a:prstGeom prst="rect">
            <a:avLst/>
          </a:prstGeom>
          <a:noFill/>
        </p:spPr>
        <p:txBody>
          <a:bodyPr wrap="square" lIns="0" rIns="0" tIns="0" bIns="0" anchor="t"/>
          <a:lstStyle/>
          <a:p>
            <a:pPr algn="l">
              <a:spcBef>
                <a:spcPts val="0"/>
              </a:spcBef>
              <a:spcAft>
                <a:spcPts val="0"/>
              </a:spcAft>
            </a:pPr>
            <a:r>
              <a:rPr sz="1100" b="1" i="0">
                <a:solidFill>
                  <a:srgbClr val="2D5A27"/>
                </a:solidFill>
                <a:latin typeface="Calibri"/>
              </a:rPr>
              <a:t>IMPLEMENTATION</a:t>
            </a:r>
          </a:p>
        </p:txBody>
      </p:sp>
      <p:sp>
        <p:nvSpPr>
          <p:cNvPr id="4" name="TextBox 3"/>
          <p:cNvSpPr txBox="1"/>
          <p:nvPr/>
        </p:nvSpPr>
        <p:spPr>
          <a:xfrm>
            <a:off x="457200" y="475488"/>
            <a:ext cx="10972800" cy="502920"/>
          </a:xfrm>
          <a:prstGeom prst="rect">
            <a:avLst/>
          </a:prstGeom>
          <a:noFill/>
        </p:spPr>
        <p:txBody>
          <a:bodyPr wrap="square" lIns="0" rIns="0" tIns="0" bIns="0" anchor="t"/>
          <a:lstStyle/>
          <a:p>
            <a:pPr algn="l">
              <a:spcBef>
                <a:spcPts val="0"/>
              </a:spcBef>
              <a:spcAft>
                <a:spcPts val="0"/>
              </a:spcAft>
            </a:pPr>
            <a:r>
              <a:rPr sz="3000" b="1" i="0">
                <a:solidFill>
                  <a:srgbClr val="1A202C"/>
                </a:solidFill>
                <a:latin typeface="Calibri"/>
              </a:rPr>
              <a:t>A separate deployment for that client.</a:t>
            </a:r>
          </a:p>
        </p:txBody>
      </p:sp>
      <p:sp>
        <p:nvSpPr>
          <p:cNvPr id="5" name="Rounded Rectangle 4"/>
          <p:cNvSpPr/>
          <p:nvPr/>
        </p:nvSpPr>
        <p:spPr>
          <a:xfrm>
            <a:off x="457200" y="1417320"/>
            <a:ext cx="3703320" cy="205740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673352"/>
            <a:ext cx="438912" cy="438912"/>
          </a:xfrm>
          <a:prstGeom prst="roundRect">
            <a:avLst>
              <a:gd name="adj" fmla="val 20000"/>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728216"/>
            <a:ext cx="438912" cy="329184"/>
          </a:xfrm>
          <a:prstGeom prst="rect">
            <a:avLst/>
          </a:prstGeom>
          <a:noFill/>
        </p:spPr>
        <p:txBody>
          <a:bodyPr wrap="square" lIns="0" rIns="0" tIns="0" bIns="0" anchor="t"/>
          <a:lstStyle/>
          <a:p>
            <a:pPr algn="ctr">
              <a:spcBef>
                <a:spcPts val="0"/>
              </a:spcBef>
              <a:spcAft>
                <a:spcPts val="0"/>
              </a:spcAft>
            </a:pPr>
            <a:r>
              <a:rPr sz="1600" b="1" i="0">
                <a:solidFill>
                  <a:srgbClr val="FFFFFF"/>
                </a:solidFill>
                <a:latin typeface="Calibri"/>
              </a:rPr>
              <a:t>1</a:t>
            </a:r>
          </a:p>
        </p:txBody>
      </p:sp>
      <p:sp>
        <p:nvSpPr>
          <p:cNvPr id="8" name="TextBox 7"/>
          <p:cNvSpPr txBox="1"/>
          <p:nvPr/>
        </p:nvSpPr>
        <p:spPr>
          <a:xfrm>
            <a:off x="1243584" y="1709928"/>
            <a:ext cx="2651760" cy="384048"/>
          </a:xfrm>
          <a:prstGeom prst="rect">
            <a:avLst/>
          </a:prstGeom>
          <a:noFill/>
        </p:spPr>
        <p:txBody>
          <a:bodyPr wrap="square" lIns="0" rIns="0" tIns="0" bIns="0" anchor="t"/>
          <a:lstStyle/>
          <a:p>
            <a:pPr algn="l">
              <a:spcBef>
                <a:spcPts val="0"/>
              </a:spcBef>
              <a:spcAft>
                <a:spcPts val="0"/>
              </a:spcAft>
            </a:pPr>
            <a:r>
              <a:rPr sz="1800" b="1" i="0">
                <a:solidFill>
                  <a:srgbClr val="1A202C"/>
                </a:solidFill>
                <a:latin typeface="Calibri"/>
              </a:rPr>
              <a:t>Discover</a:t>
            </a:r>
          </a:p>
        </p:txBody>
      </p:sp>
      <p:sp>
        <p:nvSpPr>
          <p:cNvPr id="9" name="TextBox 8"/>
          <p:cNvSpPr txBox="1"/>
          <p:nvPr/>
        </p:nvSpPr>
        <p:spPr>
          <a:xfrm>
            <a:off x="658368" y="2331720"/>
            <a:ext cx="3291840" cy="8686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Sites, sizes, taxes, roles, banks, and whether Sage 50 is in use.</a:t>
            </a:r>
          </a:p>
        </p:txBody>
      </p:sp>
      <p:sp>
        <p:nvSpPr>
          <p:cNvPr id="10" name="Rounded Rectangle 9"/>
          <p:cNvSpPr/>
          <p:nvPr/>
        </p:nvSpPr>
        <p:spPr>
          <a:xfrm>
            <a:off x="4343400" y="1417320"/>
            <a:ext cx="3703320" cy="205740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44568" y="1673352"/>
            <a:ext cx="438912" cy="438912"/>
          </a:xfrm>
          <a:prstGeom prst="roundRect">
            <a:avLst>
              <a:gd name="adj" fmla="val 20000"/>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728216"/>
            <a:ext cx="438912" cy="329184"/>
          </a:xfrm>
          <a:prstGeom prst="rect">
            <a:avLst/>
          </a:prstGeom>
          <a:noFill/>
        </p:spPr>
        <p:txBody>
          <a:bodyPr wrap="square" lIns="0" rIns="0" tIns="0" bIns="0" anchor="t"/>
          <a:lstStyle/>
          <a:p>
            <a:pPr algn="ctr">
              <a:spcBef>
                <a:spcPts val="0"/>
              </a:spcBef>
              <a:spcAft>
                <a:spcPts val="0"/>
              </a:spcAft>
            </a:pPr>
            <a:r>
              <a:rPr sz="1600" b="1" i="0">
                <a:solidFill>
                  <a:srgbClr val="FFFFFF"/>
                </a:solidFill>
                <a:latin typeface="Calibri"/>
              </a:rPr>
              <a:t>2</a:t>
            </a:r>
          </a:p>
        </p:txBody>
      </p:sp>
      <p:sp>
        <p:nvSpPr>
          <p:cNvPr id="13" name="TextBox 12"/>
          <p:cNvSpPr txBox="1"/>
          <p:nvPr/>
        </p:nvSpPr>
        <p:spPr>
          <a:xfrm>
            <a:off x="5129784" y="1709928"/>
            <a:ext cx="2651760" cy="384048"/>
          </a:xfrm>
          <a:prstGeom prst="rect">
            <a:avLst/>
          </a:prstGeom>
          <a:noFill/>
        </p:spPr>
        <p:txBody>
          <a:bodyPr wrap="square" lIns="0" rIns="0" tIns="0" bIns="0" anchor="t"/>
          <a:lstStyle/>
          <a:p>
            <a:pPr algn="l">
              <a:spcBef>
                <a:spcPts val="0"/>
              </a:spcBef>
              <a:spcAft>
                <a:spcPts val="0"/>
              </a:spcAft>
            </a:pPr>
            <a:r>
              <a:rPr sz="1800" b="1" i="0">
                <a:solidFill>
                  <a:srgbClr val="1A202C"/>
                </a:solidFill>
                <a:latin typeface="Calibri"/>
              </a:rPr>
              <a:t>Deploy</a:t>
            </a:r>
          </a:p>
        </p:txBody>
      </p:sp>
      <p:sp>
        <p:nvSpPr>
          <p:cNvPr id="14" name="TextBox 13"/>
          <p:cNvSpPr txBox="1"/>
          <p:nvPr/>
        </p:nvSpPr>
        <p:spPr>
          <a:xfrm>
            <a:off x="4544568" y="2331720"/>
            <a:ext cx="3291840" cy="8686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Their own database and sign-in. One organization.</a:t>
            </a:r>
          </a:p>
        </p:txBody>
      </p:sp>
      <p:sp>
        <p:nvSpPr>
          <p:cNvPr id="15" name="Rounded Rectangle 14"/>
          <p:cNvSpPr/>
          <p:nvPr/>
        </p:nvSpPr>
        <p:spPr>
          <a:xfrm>
            <a:off x="8229600" y="1417320"/>
            <a:ext cx="3703320" cy="205740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430768" y="1673352"/>
            <a:ext cx="438912" cy="438912"/>
          </a:xfrm>
          <a:prstGeom prst="roundRect">
            <a:avLst>
              <a:gd name="adj" fmla="val 20000"/>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8" y="1728216"/>
            <a:ext cx="438912" cy="329184"/>
          </a:xfrm>
          <a:prstGeom prst="rect">
            <a:avLst/>
          </a:prstGeom>
          <a:noFill/>
        </p:spPr>
        <p:txBody>
          <a:bodyPr wrap="square" lIns="0" rIns="0" tIns="0" bIns="0" anchor="t"/>
          <a:lstStyle/>
          <a:p>
            <a:pPr algn="ctr">
              <a:spcBef>
                <a:spcPts val="0"/>
              </a:spcBef>
              <a:spcAft>
                <a:spcPts val="0"/>
              </a:spcAft>
            </a:pPr>
            <a:r>
              <a:rPr sz="1600" b="1" i="0">
                <a:solidFill>
                  <a:srgbClr val="FFFFFF"/>
                </a:solidFill>
                <a:latin typeface="Calibri"/>
              </a:rPr>
              <a:t>3</a:t>
            </a:r>
          </a:p>
        </p:txBody>
      </p:sp>
      <p:sp>
        <p:nvSpPr>
          <p:cNvPr id="18" name="TextBox 17"/>
          <p:cNvSpPr txBox="1"/>
          <p:nvPr/>
        </p:nvSpPr>
        <p:spPr>
          <a:xfrm>
            <a:off x="9015984" y="1709928"/>
            <a:ext cx="2651760" cy="384048"/>
          </a:xfrm>
          <a:prstGeom prst="rect">
            <a:avLst/>
          </a:prstGeom>
          <a:noFill/>
        </p:spPr>
        <p:txBody>
          <a:bodyPr wrap="square" lIns="0" rIns="0" tIns="0" bIns="0" anchor="t"/>
          <a:lstStyle/>
          <a:p>
            <a:pPr algn="l">
              <a:spcBef>
                <a:spcPts val="0"/>
              </a:spcBef>
              <a:spcAft>
                <a:spcPts val="0"/>
              </a:spcAft>
            </a:pPr>
            <a:r>
              <a:rPr sz="1800" b="1" i="0">
                <a:solidFill>
                  <a:srgbClr val="1A202C"/>
                </a:solidFill>
                <a:latin typeface="Calibri"/>
              </a:rPr>
              <a:t>Configure</a:t>
            </a:r>
          </a:p>
        </p:txBody>
      </p:sp>
      <p:sp>
        <p:nvSpPr>
          <p:cNvPr id="19" name="TextBox 18"/>
          <p:cNvSpPr txBox="1"/>
          <p:nvPr/>
        </p:nvSpPr>
        <p:spPr>
          <a:xfrm>
            <a:off x="8430768" y="2331720"/>
            <a:ext cx="3291840" cy="8686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Yields, catalog, tax, HR rules, roles, and banks.</a:t>
            </a:r>
          </a:p>
        </p:txBody>
      </p:sp>
      <p:sp>
        <p:nvSpPr>
          <p:cNvPr id="20" name="Rounded Rectangle 19"/>
          <p:cNvSpPr/>
          <p:nvPr/>
        </p:nvSpPr>
        <p:spPr>
          <a:xfrm>
            <a:off x="457200" y="3657600"/>
            <a:ext cx="3703320" cy="205740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8368" y="3913632"/>
            <a:ext cx="438912" cy="438912"/>
          </a:xfrm>
          <a:prstGeom prst="roundRect">
            <a:avLst>
              <a:gd name="adj" fmla="val 20000"/>
            </a:avLst>
          </a:prstGeom>
          <a:solidFill>
            <a:srgbClr val="005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3968496"/>
            <a:ext cx="438912" cy="329184"/>
          </a:xfrm>
          <a:prstGeom prst="rect">
            <a:avLst/>
          </a:prstGeom>
          <a:noFill/>
        </p:spPr>
        <p:txBody>
          <a:bodyPr wrap="square" lIns="0" rIns="0" tIns="0" bIns="0" anchor="t"/>
          <a:lstStyle/>
          <a:p>
            <a:pPr algn="ctr">
              <a:spcBef>
                <a:spcPts val="0"/>
              </a:spcBef>
              <a:spcAft>
                <a:spcPts val="0"/>
              </a:spcAft>
            </a:pPr>
            <a:r>
              <a:rPr sz="1600" b="1" i="0">
                <a:solidFill>
                  <a:srgbClr val="FFFFFF"/>
                </a:solidFill>
                <a:latin typeface="Calibri"/>
              </a:rPr>
              <a:t>4</a:t>
            </a:r>
          </a:p>
        </p:txBody>
      </p:sp>
      <p:sp>
        <p:nvSpPr>
          <p:cNvPr id="23" name="TextBox 22"/>
          <p:cNvSpPr txBox="1"/>
          <p:nvPr/>
        </p:nvSpPr>
        <p:spPr>
          <a:xfrm>
            <a:off x="1243584" y="3950208"/>
            <a:ext cx="2651760" cy="384048"/>
          </a:xfrm>
          <a:prstGeom prst="rect">
            <a:avLst/>
          </a:prstGeom>
          <a:noFill/>
        </p:spPr>
        <p:txBody>
          <a:bodyPr wrap="square" lIns="0" rIns="0" tIns="0" bIns="0" anchor="t"/>
          <a:lstStyle/>
          <a:p>
            <a:pPr algn="l">
              <a:spcBef>
                <a:spcPts val="0"/>
              </a:spcBef>
              <a:spcAft>
                <a:spcPts val="0"/>
              </a:spcAft>
            </a:pPr>
            <a:r>
              <a:rPr sz="1800" b="1" i="0">
                <a:solidFill>
                  <a:srgbClr val="1A202C"/>
                </a:solidFill>
                <a:latin typeface="Calibri"/>
              </a:rPr>
              <a:t>Open</a:t>
            </a:r>
          </a:p>
        </p:txBody>
      </p:sp>
      <p:sp>
        <p:nvSpPr>
          <p:cNvPr id="24" name="TextBox 23"/>
          <p:cNvSpPr txBox="1"/>
          <p:nvPr/>
        </p:nvSpPr>
        <p:spPr>
          <a:xfrm>
            <a:off x="658368" y="4572000"/>
            <a:ext cx="3291840" cy="8686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Opening stock, customers, suppliers, and employees.</a:t>
            </a:r>
          </a:p>
        </p:txBody>
      </p:sp>
      <p:sp>
        <p:nvSpPr>
          <p:cNvPr id="25" name="Rounded Rectangle 24"/>
          <p:cNvSpPr/>
          <p:nvPr/>
        </p:nvSpPr>
        <p:spPr>
          <a:xfrm>
            <a:off x="4343400" y="3657600"/>
            <a:ext cx="3703320" cy="205740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544568" y="3913632"/>
            <a:ext cx="438912" cy="438912"/>
          </a:xfrm>
          <a:prstGeom prst="roundRect">
            <a:avLst>
              <a:gd name="adj" fmla="val 20000"/>
            </a:avLst>
          </a:prstGeom>
          <a:solidFill>
            <a:srgbClr val="005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44568" y="3968496"/>
            <a:ext cx="438912" cy="329184"/>
          </a:xfrm>
          <a:prstGeom prst="rect">
            <a:avLst/>
          </a:prstGeom>
          <a:noFill/>
        </p:spPr>
        <p:txBody>
          <a:bodyPr wrap="square" lIns="0" rIns="0" tIns="0" bIns="0" anchor="t"/>
          <a:lstStyle/>
          <a:p>
            <a:pPr algn="ctr">
              <a:spcBef>
                <a:spcPts val="0"/>
              </a:spcBef>
              <a:spcAft>
                <a:spcPts val="0"/>
              </a:spcAft>
            </a:pPr>
            <a:r>
              <a:rPr sz="1600" b="1" i="0">
                <a:solidFill>
                  <a:srgbClr val="FFFFFF"/>
                </a:solidFill>
                <a:latin typeface="Calibri"/>
              </a:rPr>
              <a:t>5</a:t>
            </a:r>
          </a:p>
        </p:txBody>
      </p:sp>
      <p:sp>
        <p:nvSpPr>
          <p:cNvPr id="28" name="TextBox 27"/>
          <p:cNvSpPr txBox="1"/>
          <p:nvPr/>
        </p:nvSpPr>
        <p:spPr>
          <a:xfrm>
            <a:off x="5129784" y="3950208"/>
            <a:ext cx="2651760" cy="384048"/>
          </a:xfrm>
          <a:prstGeom prst="rect">
            <a:avLst/>
          </a:prstGeom>
          <a:noFill/>
        </p:spPr>
        <p:txBody>
          <a:bodyPr wrap="square" lIns="0" rIns="0" tIns="0" bIns="0" anchor="t"/>
          <a:lstStyle/>
          <a:p>
            <a:pPr algn="l">
              <a:spcBef>
                <a:spcPts val="0"/>
              </a:spcBef>
              <a:spcAft>
                <a:spcPts val="0"/>
              </a:spcAft>
            </a:pPr>
            <a:r>
              <a:rPr sz="1800" b="1" i="0">
                <a:solidFill>
                  <a:srgbClr val="1A202C"/>
                </a:solidFill>
                <a:latin typeface="Calibri"/>
              </a:rPr>
              <a:t>Connect</a:t>
            </a:r>
          </a:p>
        </p:txBody>
      </p:sp>
      <p:sp>
        <p:nvSpPr>
          <p:cNvPr id="29" name="TextBox 28"/>
          <p:cNvSpPr txBox="1"/>
          <p:nvPr/>
        </p:nvSpPr>
        <p:spPr>
          <a:xfrm>
            <a:off x="4544568" y="4572000"/>
            <a:ext cx="3291840" cy="8686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Sage agent, after the version is known. Skip if they do not use Sage.</a:t>
            </a:r>
          </a:p>
        </p:txBody>
      </p:sp>
      <p:sp>
        <p:nvSpPr>
          <p:cNvPr id="30" name="Rounded Rectangle 29"/>
          <p:cNvSpPr/>
          <p:nvPr/>
        </p:nvSpPr>
        <p:spPr>
          <a:xfrm>
            <a:off x="8229600" y="3657600"/>
            <a:ext cx="3703320" cy="2057400"/>
          </a:xfrm>
          <a:prstGeom prst="roundRect">
            <a:avLst>
              <a:gd name="adj" fmla="val 8000"/>
            </a:avLst>
          </a:prstGeom>
          <a:solidFill>
            <a:srgbClr val="FFFFFF"/>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430768" y="3913632"/>
            <a:ext cx="438912" cy="438912"/>
          </a:xfrm>
          <a:prstGeom prst="roundRect">
            <a:avLst>
              <a:gd name="adj" fmla="val 20000"/>
            </a:avLst>
          </a:prstGeom>
          <a:solidFill>
            <a:srgbClr val="0054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30768" y="3968496"/>
            <a:ext cx="438912" cy="329184"/>
          </a:xfrm>
          <a:prstGeom prst="rect">
            <a:avLst/>
          </a:prstGeom>
          <a:noFill/>
        </p:spPr>
        <p:txBody>
          <a:bodyPr wrap="square" lIns="0" rIns="0" tIns="0" bIns="0" anchor="t"/>
          <a:lstStyle/>
          <a:p>
            <a:pPr algn="ctr">
              <a:spcBef>
                <a:spcPts val="0"/>
              </a:spcBef>
              <a:spcAft>
                <a:spcPts val="0"/>
              </a:spcAft>
            </a:pPr>
            <a:r>
              <a:rPr sz="1600" b="1" i="0">
                <a:solidFill>
                  <a:srgbClr val="FFFFFF"/>
                </a:solidFill>
                <a:latin typeface="Calibri"/>
              </a:rPr>
              <a:t>6</a:t>
            </a:r>
          </a:p>
        </p:txBody>
      </p:sp>
      <p:sp>
        <p:nvSpPr>
          <p:cNvPr id="33" name="TextBox 32"/>
          <p:cNvSpPr txBox="1"/>
          <p:nvPr/>
        </p:nvSpPr>
        <p:spPr>
          <a:xfrm>
            <a:off x="9015984" y="3950208"/>
            <a:ext cx="2651760" cy="384048"/>
          </a:xfrm>
          <a:prstGeom prst="rect">
            <a:avLst/>
          </a:prstGeom>
          <a:noFill/>
        </p:spPr>
        <p:txBody>
          <a:bodyPr wrap="square" lIns="0" rIns="0" tIns="0" bIns="0" anchor="t"/>
          <a:lstStyle/>
          <a:p>
            <a:pPr algn="l">
              <a:spcBef>
                <a:spcPts val="0"/>
              </a:spcBef>
              <a:spcAft>
                <a:spcPts val="0"/>
              </a:spcAft>
            </a:pPr>
            <a:r>
              <a:rPr sz="1800" b="1" i="0">
                <a:solidFill>
                  <a:srgbClr val="1A202C"/>
                </a:solidFill>
                <a:latin typeface="Calibri"/>
              </a:rPr>
              <a:t>Train</a:t>
            </a:r>
          </a:p>
        </p:txBody>
      </p:sp>
      <p:sp>
        <p:nvSpPr>
          <p:cNvPr id="34" name="TextBox 33"/>
          <p:cNvSpPr txBox="1"/>
          <p:nvPr/>
        </p:nvSpPr>
        <p:spPr>
          <a:xfrm>
            <a:off x="8430768" y="4572000"/>
            <a:ext cx="3291840" cy="868680"/>
          </a:xfrm>
          <a:prstGeom prst="rect">
            <a:avLst/>
          </a:prstGeom>
          <a:noFill/>
        </p:spPr>
        <p:txBody>
          <a:bodyPr wrap="square" lIns="0" rIns="0" tIns="0" bIns="0" anchor="t"/>
          <a:lstStyle/>
          <a:p>
            <a:pPr algn="l">
              <a:spcBef>
                <a:spcPts val="0"/>
              </a:spcBef>
              <a:spcAft>
                <a:spcPts val="0"/>
              </a:spcAft>
            </a:pPr>
            <a:r>
              <a:rPr sz="1400" b="0" i="0">
                <a:solidFill>
                  <a:srgbClr val="3D4A57"/>
                </a:solidFill>
                <a:latin typeface="Calibri"/>
              </a:rPr>
              <a:t>A session per role, then go-live on an agreed date.</a:t>
            </a:r>
          </a:p>
        </p:txBody>
      </p:sp>
      <p:sp>
        <p:nvSpPr>
          <p:cNvPr id="35" name="Rectangle 34"/>
          <p:cNvSpPr/>
          <p:nvPr/>
        </p:nvSpPr>
        <p:spPr>
          <a:xfrm>
            <a:off x="457200" y="6510528"/>
            <a:ext cx="11274552" cy="9144"/>
          </a:xfrm>
          <a:prstGeom prst="rect">
            <a:avLst/>
          </a:prstGeom>
          <a:solidFill>
            <a:srgbClr val="E1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6565392"/>
            <a:ext cx="2011680" cy="237744"/>
          </a:xfrm>
          <a:prstGeom prst="rect">
            <a:avLst/>
          </a:prstGeom>
          <a:noFill/>
        </p:spPr>
        <p:txBody>
          <a:bodyPr wrap="square" lIns="0" rIns="0" tIns="0" bIns="0" anchor="t"/>
          <a:lstStyle/>
          <a:p>
            <a:pPr algn="l">
              <a:spcBef>
                <a:spcPts val="0"/>
              </a:spcBef>
              <a:spcAft>
                <a:spcPts val="0"/>
              </a:spcAft>
            </a:pPr>
            <a:r>
              <a:rPr sz="1000" b="1" i="0">
                <a:solidFill>
                  <a:srgbClr val="5C6B73"/>
                </a:solidFill>
                <a:latin typeface="Calibri"/>
              </a:rPr>
              <a:t>ELECNOVATECH</a:t>
            </a:r>
          </a:p>
        </p:txBody>
      </p:sp>
      <p:sp>
        <p:nvSpPr>
          <p:cNvPr id="37" name="TextBox 36"/>
          <p:cNvSpPr txBox="1"/>
          <p:nvPr/>
        </p:nvSpPr>
        <p:spPr>
          <a:xfrm>
            <a:off x="2468880" y="6565392"/>
            <a:ext cx="5943600" cy="237744"/>
          </a:xfrm>
          <a:prstGeom prst="rect">
            <a:avLst/>
          </a:prstGeom>
          <a:noFill/>
        </p:spPr>
        <p:txBody>
          <a:bodyPr wrap="square" lIns="0" rIns="0" tIns="0" bIns="0" anchor="t"/>
          <a:lstStyle/>
          <a:p>
            <a:pPr algn="ctr">
              <a:spcBef>
                <a:spcPts val="0"/>
              </a:spcBef>
              <a:spcAft>
                <a:spcPts val="0"/>
              </a:spcAft>
            </a:pPr>
            <a:r>
              <a:rPr sz="1000" b="0" i="0">
                <a:solidFill>
                  <a:srgbClr val="5C6B73"/>
                </a:solidFill>
                <a:latin typeface="Calibri"/>
              </a:rPr>
              <a:t>HYBRID  ·  Sales presentation</a:t>
            </a:r>
          </a:p>
        </p:txBody>
      </p:sp>
      <p:sp>
        <p:nvSpPr>
          <p:cNvPr id="38" name="TextBox 37"/>
          <p:cNvSpPr txBox="1"/>
          <p:nvPr/>
        </p:nvSpPr>
        <p:spPr>
          <a:xfrm>
            <a:off x="9509760" y="6565392"/>
            <a:ext cx="2221992" cy="237744"/>
          </a:xfrm>
          <a:prstGeom prst="rect">
            <a:avLst/>
          </a:prstGeom>
          <a:noFill/>
        </p:spPr>
        <p:txBody>
          <a:bodyPr wrap="square" lIns="0" rIns="0" tIns="0" bIns="0" anchor="t"/>
          <a:lstStyle/>
          <a:p>
            <a:pPr algn="r">
              <a:spcBef>
                <a:spcPts val="0"/>
              </a:spcBef>
              <a:spcAft>
                <a:spcPts val="0"/>
              </a:spcAft>
            </a:pPr>
            <a:r>
              <a:rPr sz="1000" b="1" i="0">
                <a:solidFill>
                  <a:srgbClr val="5C6B73"/>
                </a:solidFill>
                <a:latin typeface="Calibri"/>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37744"/>
            <a:ext cx="5486400" cy="219456"/>
          </a:xfrm>
          <a:prstGeom prst="rect">
            <a:avLst/>
          </a:prstGeom>
          <a:noFill/>
        </p:spPr>
        <p:txBody>
          <a:bodyPr wrap="square" lIns="0" rIns="0" tIns="0" bIns="0" anchor="t"/>
          <a:lstStyle/>
          <a:p>
            <a:pPr algn="l">
              <a:spcBef>
                <a:spcPts val="0"/>
              </a:spcBef>
              <a:spcAft>
                <a:spcPts val="0"/>
              </a:spcAft>
            </a:pPr>
            <a:r>
              <a:rPr sz="1100" b="1" i="0">
                <a:solidFill>
                  <a:srgbClr val="2D5A27"/>
                </a:solidFill>
                <a:latin typeface="Calibri"/>
              </a:rPr>
              <a:t>COMMERCIAL STRUCTURE</a:t>
            </a:r>
          </a:p>
        </p:txBody>
      </p:sp>
      <p:sp>
        <p:nvSpPr>
          <p:cNvPr id="4" name="TextBox 3"/>
          <p:cNvSpPr txBox="1"/>
          <p:nvPr/>
        </p:nvSpPr>
        <p:spPr>
          <a:xfrm>
            <a:off x="457200" y="438912"/>
            <a:ext cx="10972800" cy="502920"/>
          </a:xfrm>
          <a:prstGeom prst="rect">
            <a:avLst/>
          </a:prstGeom>
          <a:noFill/>
        </p:spPr>
        <p:txBody>
          <a:bodyPr wrap="square" lIns="0" rIns="0" tIns="0" bIns="0" anchor="t"/>
          <a:lstStyle/>
          <a:p>
            <a:pPr algn="l">
              <a:spcBef>
                <a:spcPts val="0"/>
              </a:spcBef>
              <a:spcAft>
                <a:spcPts val="0"/>
              </a:spcAft>
            </a:pPr>
            <a:r>
              <a:rPr sz="2800" b="1" i="0">
                <a:solidFill>
                  <a:srgbClr val="1A202C"/>
                </a:solidFill>
                <a:latin typeface="Calibri"/>
              </a:rPr>
              <a:t>The quote fills every bracket.</a:t>
            </a:r>
          </a:p>
        </p:txBody>
      </p:sp>
      <p:graphicFrame>
        <p:nvGraphicFramePr>
          <p:cNvPr id="5" name="Table 4"/>
          <p:cNvGraphicFramePr>
            <a:graphicFrameLocks noGrp="1"/>
          </p:cNvGraphicFramePr>
          <p:nvPr/>
        </p:nvGraphicFramePr>
        <p:xfrm>
          <a:off x="457200" y="1280160"/>
          <a:ext cx="11274552" cy="4160520"/>
        </p:xfrm>
        <a:graphic>
          <a:graphicData uri="http://schemas.openxmlformats.org/drawingml/2006/table">
            <a:tbl>
              <a:tblPr firstRow="1" bandRow="1">
                <a:tableStyleId>{5C22544A-7EE6-4342-B048-85BDC9FD1C3A}</a:tableStyleId>
              </a:tblPr>
              <a:tblGrid>
                <a:gridCol w="2286000"/>
                <a:gridCol w="6537960"/>
                <a:gridCol w="2450592"/>
              </a:tblGrid>
              <a:tr h="693420">
                <a:tc>
                  <a:txBody>
                    <a:bodyPr/>
                    <a:lstStyle/>
                    <a:p>
                      <a:pPr algn="l"/>
                      <a:r>
                        <a:rPr sz="1200" b="1" i="0">
                          <a:solidFill>
                            <a:srgbClr val="FFFFFF"/>
                          </a:solidFill>
                          <a:latin typeface="Calibri"/>
                        </a:rPr>
                        <a:t>Item</a:t>
                      </a:r>
                    </a:p>
                  </a:txBody>
                  <a:tcPr marL="109728" marR="73152" marT="73152" marB="54864">
                    <a:solidFill>
                      <a:srgbClr val="1A202C"/>
                    </a:solidFill>
                  </a:tcPr>
                </a:tc>
                <a:tc>
                  <a:txBody>
                    <a:bodyPr/>
                    <a:lstStyle/>
                    <a:p>
                      <a:pPr algn="l"/>
                      <a:r>
                        <a:rPr sz="1200" b="1" i="0">
                          <a:solidFill>
                            <a:srgbClr val="FFFFFF"/>
                          </a:solidFill>
                          <a:latin typeface="Calibri"/>
                        </a:rPr>
                        <a:t>What the client is buying</a:t>
                      </a:r>
                    </a:p>
                  </a:txBody>
                  <a:tcPr marL="109728" marR="73152" marT="73152" marB="54864">
                    <a:solidFill>
                      <a:srgbClr val="1A202C"/>
                    </a:solidFill>
                  </a:tcPr>
                </a:tc>
                <a:tc>
                  <a:txBody>
                    <a:bodyPr/>
                    <a:lstStyle/>
                    <a:p>
                      <a:pPr algn="l"/>
                      <a:r>
                        <a:rPr sz="1200" b="1" i="0">
                          <a:solidFill>
                            <a:srgbClr val="FFFFFF"/>
                          </a:solidFill>
                          <a:latin typeface="Calibri"/>
                        </a:rPr>
                        <a:t>Amount</a:t>
                      </a:r>
                    </a:p>
                  </a:txBody>
                  <a:tcPr marL="109728" marR="73152" marT="73152" marB="54864">
                    <a:solidFill>
                      <a:srgbClr val="1A202C"/>
                    </a:solidFill>
                  </a:tcPr>
                </a:tc>
              </a:tr>
              <a:tr h="693420">
                <a:tc>
                  <a:txBody>
                    <a:bodyPr/>
                    <a:lstStyle/>
                    <a:p>
                      <a:pPr algn="l"/>
                      <a:r>
                        <a:rPr sz="1200" b="1" i="0">
                          <a:solidFill>
                            <a:srgbClr val="1A202C"/>
                          </a:solidFill>
                          <a:latin typeface="Calibri"/>
                        </a:rPr>
                        <a:t>License</a:t>
                      </a:r>
                    </a:p>
                  </a:txBody>
                  <a:tcPr marL="109728" marR="73152" marT="73152" marB="54864">
                    <a:solidFill>
                      <a:srgbClr val="FFFFFF"/>
                    </a:solidFill>
                  </a:tcPr>
                </a:tc>
                <a:tc>
                  <a:txBody>
                    <a:bodyPr/>
                    <a:lstStyle/>
                    <a:p>
                      <a:pPr algn="l"/>
                      <a:r>
                        <a:rPr sz="1200" b="0" i="0">
                          <a:solidFill>
                            <a:srgbClr val="1A202C"/>
                          </a:solidFill>
                          <a:latin typeface="Calibri"/>
                        </a:rPr>
                        <a:t>Use of HYBRID for one organization, for the term in the quote</a:t>
                      </a:r>
                    </a:p>
                  </a:txBody>
                  <a:tcPr marL="109728" marR="73152" marT="73152" marB="54864">
                    <a:solidFill>
                      <a:srgbClr val="FFFFFF"/>
                    </a:solidFill>
                  </a:tcPr>
                </a:tc>
                <a:tc>
                  <a:txBody>
                    <a:bodyPr/>
                    <a:lstStyle/>
                    <a:p>
                      <a:pPr algn="l"/>
                      <a:r>
                        <a:rPr sz="1200" b="1" i="0">
                          <a:solidFill>
                            <a:srgbClr val="0054A6"/>
                          </a:solidFill>
                          <a:latin typeface="Calibri"/>
                        </a:rPr>
                        <a:t>[Annual fee]</a:t>
                      </a:r>
                    </a:p>
                  </a:txBody>
                  <a:tcPr marL="109728" marR="73152" marT="73152" marB="54864">
                    <a:solidFill>
                      <a:srgbClr val="FFFFFF"/>
                    </a:solidFill>
                  </a:tcPr>
                </a:tc>
              </a:tr>
              <a:tr h="693420">
                <a:tc>
                  <a:txBody>
                    <a:bodyPr/>
                    <a:lstStyle/>
                    <a:p>
                      <a:pPr algn="l"/>
                      <a:r>
                        <a:rPr sz="1200" b="1" i="0">
                          <a:solidFill>
                            <a:srgbClr val="1A202C"/>
                          </a:solidFill>
                          <a:latin typeface="Calibri"/>
                        </a:rPr>
                        <a:t>Implementation</a:t>
                      </a:r>
                    </a:p>
                  </a:txBody>
                  <a:tcPr marL="109728" marR="73152" marT="73152" marB="54864">
                    <a:solidFill>
                      <a:srgbClr val="F3F8EC"/>
                    </a:solidFill>
                  </a:tcPr>
                </a:tc>
                <a:tc>
                  <a:txBody>
                    <a:bodyPr/>
                    <a:lstStyle/>
                    <a:p>
                      <a:pPr algn="l"/>
                      <a:r>
                        <a:rPr sz="1200" b="0" i="0">
                          <a:solidFill>
                            <a:srgbClr val="1A202C"/>
                          </a:solidFill>
                          <a:latin typeface="Calibri"/>
                        </a:rPr>
                        <a:t>Discovery, deployment, configuration, opening data, training, go-live</a:t>
                      </a:r>
                    </a:p>
                  </a:txBody>
                  <a:tcPr marL="109728" marR="73152" marT="73152" marB="54864">
                    <a:solidFill>
                      <a:srgbClr val="F3F8EC"/>
                    </a:solidFill>
                  </a:tcPr>
                </a:tc>
                <a:tc>
                  <a:txBody>
                    <a:bodyPr/>
                    <a:lstStyle/>
                    <a:p>
                      <a:pPr algn="l"/>
                      <a:r>
                        <a:rPr sz="1200" b="1" i="0">
                          <a:solidFill>
                            <a:srgbClr val="0054A6"/>
                          </a:solidFill>
                          <a:latin typeface="Calibri"/>
                        </a:rPr>
                        <a:t>[Project fee]</a:t>
                      </a:r>
                    </a:p>
                  </a:txBody>
                  <a:tcPr marL="109728" marR="73152" marT="73152" marB="54864">
                    <a:solidFill>
                      <a:srgbClr val="F3F8EC"/>
                    </a:solidFill>
                  </a:tcPr>
                </a:tc>
              </a:tr>
              <a:tr h="693420">
                <a:tc>
                  <a:txBody>
                    <a:bodyPr/>
                    <a:lstStyle/>
                    <a:p>
                      <a:pPr algn="l"/>
                      <a:r>
                        <a:rPr sz="1200" b="1" i="0">
                          <a:solidFill>
                            <a:srgbClr val="1A202C"/>
                          </a:solidFill>
                          <a:latin typeface="Calibri"/>
                        </a:rPr>
                        <a:t>Sage connector</a:t>
                      </a:r>
                    </a:p>
                  </a:txBody>
                  <a:tcPr marL="109728" marR="73152" marT="73152" marB="54864">
                    <a:solidFill>
                      <a:srgbClr val="FFFFFF"/>
                    </a:solidFill>
                  </a:tcPr>
                </a:tc>
                <a:tc>
                  <a:txBody>
                    <a:bodyPr/>
                    <a:lstStyle/>
                    <a:p>
                      <a:pPr algn="l"/>
                      <a:r>
                        <a:rPr sz="1200" b="0" i="0">
                          <a:solidFill>
                            <a:srgbClr val="1A202C"/>
                          </a:solidFill>
                          <a:latin typeface="Calibri"/>
                        </a:rPr>
                        <a:t>Reader for their Sage 50 version, and the agent on their PC</a:t>
                      </a:r>
                    </a:p>
                  </a:txBody>
                  <a:tcPr marL="109728" marR="73152" marT="73152" marB="54864">
                    <a:solidFill>
                      <a:srgbClr val="FFFFFF"/>
                    </a:solidFill>
                  </a:tcPr>
                </a:tc>
                <a:tc>
                  <a:txBody>
                    <a:bodyPr/>
                    <a:lstStyle/>
                    <a:p>
                      <a:pPr algn="l"/>
                      <a:r>
                        <a:rPr sz="1200" b="1" i="0">
                          <a:solidFill>
                            <a:srgbClr val="0054A6"/>
                          </a:solidFill>
                          <a:latin typeface="Calibri"/>
                        </a:rPr>
                        <a:t>[Fee or not required]</a:t>
                      </a:r>
                    </a:p>
                  </a:txBody>
                  <a:tcPr marL="109728" marR="73152" marT="73152" marB="54864">
                    <a:solidFill>
                      <a:srgbClr val="FFFFFF"/>
                    </a:solidFill>
                  </a:tcPr>
                </a:tc>
              </a:tr>
              <a:tr h="693420">
                <a:tc>
                  <a:txBody>
                    <a:bodyPr/>
                    <a:lstStyle/>
                    <a:p>
                      <a:pPr algn="l"/>
                      <a:r>
                        <a:rPr sz="1200" b="1" i="0">
                          <a:solidFill>
                            <a:srgbClr val="1A202C"/>
                          </a:solidFill>
                          <a:latin typeface="Calibri"/>
                        </a:rPr>
                        <a:t>Customization</a:t>
                      </a:r>
                    </a:p>
                  </a:txBody>
                  <a:tcPr marL="109728" marR="73152" marT="73152" marB="54864">
                    <a:solidFill>
                      <a:srgbClr val="F3F8EC"/>
                    </a:solidFill>
                  </a:tcPr>
                </a:tc>
                <a:tc>
                  <a:txBody>
                    <a:bodyPr/>
                    <a:lstStyle/>
                    <a:p>
                      <a:pPr algn="l"/>
                      <a:r>
                        <a:rPr sz="1200" b="0" i="0">
                          <a:solidFill>
                            <a:srgbClr val="1A202C"/>
                          </a:solidFill>
                          <a:latin typeface="Calibri"/>
                        </a:rPr>
                        <a:t>Only the written list. Anything else stays out of this sale</a:t>
                      </a:r>
                    </a:p>
                  </a:txBody>
                  <a:tcPr marL="109728" marR="73152" marT="73152" marB="54864">
                    <a:solidFill>
                      <a:srgbClr val="F3F8EC"/>
                    </a:solidFill>
                  </a:tcPr>
                </a:tc>
                <a:tc>
                  <a:txBody>
                    <a:bodyPr/>
                    <a:lstStyle/>
                    <a:p>
                      <a:pPr algn="l"/>
                      <a:r>
                        <a:rPr sz="1200" b="1" i="0">
                          <a:solidFill>
                            <a:srgbClr val="0054A6"/>
                          </a:solidFill>
                          <a:latin typeface="Calibri"/>
                        </a:rPr>
                        <a:t>[Scoped fee]</a:t>
                      </a:r>
                    </a:p>
                  </a:txBody>
                  <a:tcPr marL="109728" marR="73152" marT="73152" marB="54864">
                    <a:solidFill>
                      <a:srgbClr val="F3F8EC"/>
                    </a:solidFill>
                  </a:tcPr>
                </a:tc>
              </a:tr>
              <a:tr h="693420">
                <a:tc>
                  <a:txBody>
                    <a:bodyPr/>
                    <a:lstStyle/>
                    <a:p>
                      <a:pPr algn="l"/>
                      <a:r>
                        <a:rPr sz="1200" b="1" i="0">
                          <a:solidFill>
                            <a:srgbClr val="1A202C"/>
                          </a:solidFill>
                          <a:latin typeface="Calibri"/>
                        </a:rPr>
                        <a:t>Support</a:t>
                      </a:r>
                    </a:p>
                  </a:txBody>
                  <a:tcPr marL="109728" marR="73152" marT="73152" marB="54864">
                    <a:solidFill>
                      <a:srgbClr val="FFFFFF"/>
                    </a:solidFill>
                  </a:tcPr>
                </a:tc>
                <a:tc>
                  <a:txBody>
                    <a:bodyPr/>
                    <a:lstStyle/>
                    <a:p>
                      <a:pPr algn="l"/>
                      <a:r>
                        <a:rPr sz="1200" b="0" i="0">
                          <a:solidFill>
                            <a:srgbClr val="1A202C"/>
                          </a:solidFill>
                          <a:latin typeface="Calibri"/>
                        </a:rPr>
                        <a:t>The retainer described in the proposal, after go-live</a:t>
                      </a:r>
                    </a:p>
                  </a:txBody>
                  <a:tcPr marL="109728" marR="73152" marT="73152" marB="54864">
                    <a:solidFill>
                      <a:srgbClr val="FFFFFF"/>
                    </a:solidFill>
                  </a:tcPr>
                </a:tc>
                <a:tc>
                  <a:txBody>
                    <a:bodyPr/>
                    <a:lstStyle/>
                    <a:p>
                      <a:pPr algn="l"/>
                      <a:r>
                        <a:rPr sz="1200" b="1" i="0">
                          <a:solidFill>
                            <a:srgbClr val="0054A6"/>
                          </a:solidFill>
                          <a:latin typeface="Calibri"/>
                        </a:rPr>
                        <a:t>[Monthly fee]</a:t>
                      </a:r>
                    </a:p>
                  </a:txBody>
                  <a:tcPr marL="109728" marR="73152" marT="73152" marB="54864">
                    <a:solidFill>
                      <a:srgbClr val="FFFFFF"/>
                    </a:solidFill>
                  </a:tcPr>
                </a:tc>
              </a:tr>
            </a:tbl>
          </a:graphicData>
        </a:graphic>
      </p:graphicFrame>
      <p:sp>
        <p:nvSpPr>
          <p:cNvPr id="6" name="TextBox 5"/>
          <p:cNvSpPr txBox="1"/>
          <p:nvPr/>
        </p:nvSpPr>
        <p:spPr>
          <a:xfrm>
            <a:off x="457200" y="5623560"/>
            <a:ext cx="11274552" cy="640080"/>
          </a:xfrm>
          <a:prstGeom prst="rect">
            <a:avLst/>
          </a:prstGeom>
          <a:noFill/>
        </p:spPr>
        <p:txBody>
          <a:bodyPr wrap="square" lIns="0" rIns="0" tIns="0" bIns="0" anchor="t"/>
          <a:lstStyle/>
          <a:p>
            <a:pPr algn="l">
              <a:spcBef>
                <a:spcPts val="0"/>
              </a:spcBef>
              <a:spcAft>
                <a:spcPts val="0"/>
              </a:spcAft>
            </a:pPr>
            <a:r>
              <a:rPr sz="1400" b="0" i="0">
                <a:solidFill>
                  <a:srgbClr val="5C6B73"/>
                </a:solidFill>
                <a:latin typeface="Calibri"/>
              </a:rPr>
              <a:t>Payment schedule, validity, and what happens at renewal are written on the quote. This slide is the structure, not the price.</a:t>
            </a:r>
          </a:p>
        </p:txBody>
      </p:sp>
      <p:sp>
        <p:nvSpPr>
          <p:cNvPr id="7" name="Rectangle 6"/>
          <p:cNvSpPr/>
          <p:nvPr/>
        </p:nvSpPr>
        <p:spPr>
          <a:xfrm>
            <a:off x="457200" y="6510528"/>
            <a:ext cx="11274552" cy="9144"/>
          </a:xfrm>
          <a:prstGeom prst="rect">
            <a:avLst/>
          </a:prstGeom>
          <a:solidFill>
            <a:srgbClr val="E1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65392"/>
            <a:ext cx="2011680" cy="237744"/>
          </a:xfrm>
          <a:prstGeom prst="rect">
            <a:avLst/>
          </a:prstGeom>
          <a:noFill/>
        </p:spPr>
        <p:txBody>
          <a:bodyPr wrap="square" lIns="0" rIns="0" tIns="0" bIns="0" anchor="t"/>
          <a:lstStyle/>
          <a:p>
            <a:pPr algn="l">
              <a:spcBef>
                <a:spcPts val="0"/>
              </a:spcBef>
              <a:spcAft>
                <a:spcPts val="0"/>
              </a:spcAft>
            </a:pPr>
            <a:r>
              <a:rPr sz="1000" b="1" i="0">
                <a:solidFill>
                  <a:srgbClr val="5C6B73"/>
                </a:solidFill>
                <a:latin typeface="Calibri"/>
              </a:rPr>
              <a:t>ELECNOVATECH</a:t>
            </a:r>
          </a:p>
        </p:txBody>
      </p:sp>
      <p:sp>
        <p:nvSpPr>
          <p:cNvPr id="9" name="TextBox 8"/>
          <p:cNvSpPr txBox="1"/>
          <p:nvPr/>
        </p:nvSpPr>
        <p:spPr>
          <a:xfrm>
            <a:off x="2468880" y="6565392"/>
            <a:ext cx="5943600" cy="237744"/>
          </a:xfrm>
          <a:prstGeom prst="rect">
            <a:avLst/>
          </a:prstGeom>
          <a:noFill/>
        </p:spPr>
        <p:txBody>
          <a:bodyPr wrap="square" lIns="0" rIns="0" tIns="0" bIns="0" anchor="t"/>
          <a:lstStyle/>
          <a:p>
            <a:pPr algn="ctr">
              <a:spcBef>
                <a:spcPts val="0"/>
              </a:spcBef>
              <a:spcAft>
                <a:spcPts val="0"/>
              </a:spcAft>
            </a:pPr>
            <a:r>
              <a:rPr sz="1000" b="0" i="0">
                <a:solidFill>
                  <a:srgbClr val="5C6B73"/>
                </a:solidFill>
                <a:latin typeface="Calibri"/>
              </a:rPr>
              <a:t>HYBRID  ·  Sales presentation</a:t>
            </a:r>
          </a:p>
        </p:txBody>
      </p:sp>
      <p:sp>
        <p:nvSpPr>
          <p:cNvPr id="10" name="TextBox 9"/>
          <p:cNvSpPr txBox="1"/>
          <p:nvPr/>
        </p:nvSpPr>
        <p:spPr>
          <a:xfrm>
            <a:off x="9509760" y="6565392"/>
            <a:ext cx="2221992" cy="237744"/>
          </a:xfrm>
          <a:prstGeom prst="rect">
            <a:avLst/>
          </a:prstGeom>
          <a:noFill/>
        </p:spPr>
        <p:txBody>
          <a:bodyPr wrap="square" lIns="0" rIns="0" tIns="0" bIns="0" anchor="t"/>
          <a:lstStyle/>
          <a:p>
            <a:pPr algn="r">
              <a:spcBef>
                <a:spcPts val="0"/>
              </a:spcBef>
              <a:spcAft>
                <a:spcPts val="0"/>
              </a:spcAft>
            </a:pPr>
            <a:r>
              <a:rPr sz="1000" b="1" i="0">
                <a:solidFill>
                  <a:srgbClr val="5C6B73"/>
                </a:solidFill>
                <a:latin typeface="Calibri"/>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5486400" cy="219456"/>
          </a:xfrm>
          <a:prstGeom prst="rect">
            <a:avLst/>
          </a:prstGeom>
          <a:noFill/>
        </p:spPr>
        <p:txBody>
          <a:bodyPr wrap="square" lIns="0" rIns="0" tIns="0" bIns="0" anchor="t"/>
          <a:lstStyle/>
          <a:p>
            <a:pPr algn="l">
              <a:spcBef>
                <a:spcPts val="0"/>
              </a:spcBef>
              <a:spcAft>
                <a:spcPts val="0"/>
              </a:spcAft>
            </a:pPr>
            <a:r>
              <a:rPr sz="1100" b="1" i="0">
                <a:solidFill>
                  <a:srgbClr val="2D5A27"/>
                </a:solidFill>
                <a:latin typeface="Calibri"/>
              </a:rPr>
              <a:t>WHY ELECNOVATECH</a:t>
            </a:r>
          </a:p>
        </p:txBody>
      </p:sp>
      <p:sp>
        <p:nvSpPr>
          <p:cNvPr id="4" name="TextBox 3"/>
          <p:cNvSpPr txBox="1"/>
          <p:nvPr/>
        </p:nvSpPr>
        <p:spPr>
          <a:xfrm>
            <a:off x="457200" y="475488"/>
            <a:ext cx="10972800" cy="502920"/>
          </a:xfrm>
          <a:prstGeom prst="rect">
            <a:avLst/>
          </a:prstGeom>
          <a:noFill/>
        </p:spPr>
        <p:txBody>
          <a:bodyPr wrap="square" lIns="0" rIns="0" tIns="0" bIns="0" anchor="t"/>
          <a:lstStyle/>
          <a:p>
            <a:pPr algn="l">
              <a:spcBef>
                <a:spcPts val="0"/>
              </a:spcBef>
              <a:spcAft>
                <a:spcPts val="0"/>
              </a:spcAft>
            </a:pPr>
            <a:r>
              <a:rPr sz="3000" b="1" i="0">
                <a:solidFill>
                  <a:srgbClr val="1A202C"/>
                </a:solidFill>
                <a:latin typeface="Calibri"/>
              </a:rPr>
              <a:t>The product was shaped on the work it sells.</a:t>
            </a:r>
          </a:p>
        </p:txBody>
      </p:sp>
      <p:sp>
        <p:nvSpPr>
          <p:cNvPr id="5" name="TextBox 4"/>
          <p:cNvSpPr txBox="1"/>
          <p:nvPr/>
        </p:nvSpPr>
        <p:spPr>
          <a:xfrm>
            <a:off x="457200" y="1280160"/>
            <a:ext cx="640080" cy="365760"/>
          </a:xfrm>
          <a:prstGeom prst="rect">
            <a:avLst/>
          </a:prstGeom>
          <a:noFill/>
        </p:spPr>
        <p:txBody>
          <a:bodyPr wrap="square" lIns="0" rIns="0" tIns="0" bIns="0" anchor="t"/>
          <a:lstStyle/>
          <a:p>
            <a:pPr algn="l">
              <a:spcBef>
                <a:spcPts val="0"/>
              </a:spcBef>
              <a:spcAft>
                <a:spcPts val="0"/>
              </a:spcAft>
            </a:pPr>
            <a:r>
              <a:rPr sz="1800" b="1" i="0">
                <a:solidFill>
                  <a:srgbClr val="2D5A27"/>
                </a:solidFill>
                <a:latin typeface="Calibri"/>
              </a:rPr>
              <a:t>01</a:t>
            </a:r>
          </a:p>
        </p:txBody>
      </p:sp>
      <p:sp>
        <p:nvSpPr>
          <p:cNvPr id="6" name="TextBox 5"/>
          <p:cNvSpPr txBox="1"/>
          <p:nvPr/>
        </p:nvSpPr>
        <p:spPr>
          <a:xfrm>
            <a:off x="1234440" y="1280160"/>
            <a:ext cx="2834640" cy="365760"/>
          </a:xfrm>
          <a:prstGeom prst="rect">
            <a:avLst/>
          </a:prstGeom>
          <a:noFill/>
        </p:spPr>
        <p:txBody>
          <a:bodyPr wrap="square" lIns="0" rIns="0" tIns="0" bIns="0" anchor="t"/>
          <a:lstStyle/>
          <a:p>
            <a:pPr algn="l">
              <a:spcBef>
                <a:spcPts val="0"/>
              </a:spcBef>
              <a:spcAft>
                <a:spcPts val="0"/>
              </a:spcAft>
            </a:pPr>
            <a:r>
              <a:rPr sz="1800" b="1" i="0">
                <a:solidFill>
                  <a:srgbClr val="1A202C"/>
                </a:solidFill>
                <a:latin typeface="Calibri"/>
              </a:rPr>
              <a:t>Our own plants</a:t>
            </a:r>
          </a:p>
        </p:txBody>
      </p:sp>
      <p:sp>
        <p:nvSpPr>
          <p:cNvPr id="7" name="TextBox 6"/>
          <p:cNvSpPr txBox="1"/>
          <p:nvPr/>
        </p:nvSpPr>
        <p:spPr>
          <a:xfrm>
            <a:off x="4160520" y="1280160"/>
            <a:ext cx="7498079" cy="82296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The reference installation is Elecnovatech’s block factory and plastic recycling factory. The screens follow that work.</a:t>
            </a:r>
          </a:p>
        </p:txBody>
      </p:sp>
      <p:sp>
        <p:nvSpPr>
          <p:cNvPr id="8" name="TextBox 7"/>
          <p:cNvSpPr txBox="1"/>
          <p:nvPr/>
        </p:nvSpPr>
        <p:spPr>
          <a:xfrm>
            <a:off x="457200" y="2267712"/>
            <a:ext cx="640080" cy="365760"/>
          </a:xfrm>
          <a:prstGeom prst="rect">
            <a:avLst/>
          </a:prstGeom>
          <a:noFill/>
        </p:spPr>
        <p:txBody>
          <a:bodyPr wrap="square" lIns="0" rIns="0" tIns="0" bIns="0" anchor="t"/>
          <a:lstStyle/>
          <a:p>
            <a:pPr algn="l">
              <a:spcBef>
                <a:spcPts val="0"/>
              </a:spcBef>
              <a:spcAft>
                <a:spcPts val="0"/>
              </a:spcAft>
            </a:pPr>
            <a:r>
              <a:rPr sz="1800" b="1" i="0">
                <a:solidFill>
                  <a:srgbClr val="2D5A27"/>
                </a:solidFill>
                <a:latin typeface="Calibri"/>
              </a:rPr>
              <a:t>02</a:t>
            </a:r>
          </a:p>
        </p:txBody>
      </p:sp>
      <p:sp>
        <p:nvSpPr>
          <p:cNvPr id="9" name="TextBox 8"/>
          <p:cNvSpPr txBox="1"/>
          <p:nvPr/>
        </p:nvSpPr>
        <p:spPr>
          <a:xfrm>
            <a:off x="1234440" y="2267712"/>
            <a:ext cx="2834640" cy="365760"/>
          </a:xfrm>
          <a:prstGeom prst="rect">
            <a:avLst/>
          </a:prstGeom>
          <a:noFill/>
        </p:spPr>
        <p:txBody>
          <a:bodyPr wrap="square" lIns="0" rIns="0" tIns="0" bIns="0" anchor="t"/>
          <a:lstStyle/>
          <a:p>
            <a:pPr algn="l">
              <a:spcBef>
                <a:spcPts val="0"/>
              </a:spcBef>
              <a:spcAft>
                <a:spcPts val="0"/>
              </a:spcAft>
            </a:pPr>
            <a:r>
              <a:rPr sz="1800" b="1" i="0">
                <a:solidFill>
                  <a:srgbClr val="1A202C"/>
                </a:solidFill>
                <a:latin typeface="Calibri"/>
              </a:rPr>
              <a:t>Local money</a:t>
            </a:r>
          </a:p>
        </p:txBody>
      </p:sp>
      <p:sp>
        <p:nvSpPr>
          <p:cNvPr id="10" name="TextBox 9"/>
          <p:cNvSpPr txBox="1"/>
          <p:nvPr/>
        </p:nvSpPr>
        <p:spPr>
          <a:xfrm>
            <a:off x="4160520" y="2267712"/>
            <a:ext cx="7498079" cy="82296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Birr, VAT, withholding, and customer TIN are already part of an order. They are not a translation project.</a:t>
            </a:r>
          </a:p>
        </p:txBody>
      </p:sp>
      <p:sp>
        <p:nvSpPr>
          <p:cNvPr id="11" name="TextBox 10"/>
          <p:cNvSpPr txBox="1"/>
          <p:nvPr/>
        </p:nvSpPr>
        <p:spPr>
          <a:xfrm>
            <a:off x="457200" y="3255264"/>
            <a:ext cx="640080" cy="365760"/>
          </a:xfrm>
          <a:prstGeom prst="rect">
            <a:avLst/>
          </a:prstGeom>
          <a:noFill/>
        </p:spPr>
        <p:txBody>
          <a:bodyPr wrap="square" lIns="0" rIns="0" tIns="0" bIns="0" anchor="t"/>
          <a:lstStyle/>
          <a:p>
            <a:pPr algn="l">
              <a:spcBef>
                <a:spcPts val="0"/>
              </a:spcBef>
              <a:spcAft>
                <a:spcPts val="0"/>
              </a:spcAft>
            </a:pPr>
            <a:r>
              <a:rPr sz="1800" b="1" i="0">
                <a:solidFill>
                  <a:srgbClr val="2D5A27"/>
                </a:solidFill>
                <a:latin typeface="Calibri"/>
              </a:rPr>
              <a:t>03</a:t>
            </a:r>
          </a:p>
        </p:txBody>
      </p:sp>
      <p:sp>
        <p:nvSpPr>
          <p:cNvPr id="12" name="TextBox 11"/>
          <p:cNvSpPr txBox="1"/>
          <p:nvPr/>
        </p:nvSpPr>
        <p:spPr>
          <a:xfrm>
            <a:off x="1234440" y="3255264"/>
            <a:ext cx="2834640" cy="365760"/>
          </a:xfrm>
          <a:prstGeom prst="rect">
            <a:avLst/>
          </a:prstGeom>
          <a:noFill/>
        </p:spPr>
        <p:txBody>
          <a:bodyPr wrap="square" lIns="0" rIns="0" tIns="0" bIns="0" anchor="t"/>
          <a:lstStyle/>
          <a:p>
            <a:pPr algn="l">
              <a:spcBef>
                <a:spcPts val="0"/>
              </a:spcBef>
              <a:spcAft>
                <a:spcPts val="0"/>
              </a:spcAft>
            </a:pPr>
            <a:r>
              <a:rPr sz="1800" b="1" i="0">
                <a:solidFill>
                  <a:srgbClr val="1A202C"/>
                </a:solidFill>
                <a:latin typeface="Calibri"/>
              </a:rPr>
              <a:t>Sage stays</a:t>
            </a:r>
          </a:p>
        </p:txBody>
      </p:sp>
      <p:sp>
        <p:nvSpPr>
          <p:cNvPr id="13" name="TextBox 12"/>
          <p:cNvSpPr txBox="1"/>
          <p:nvPr/>
        </p:nvSpPr>
        <p:spPr>
          <a:xfrm>
            <a:off x="4160520" y="3255264"/>
            <a:ext cx="7498079" cy="82296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Clients who already close their books in Sage 50 keep Sage. HYBRID is the operating record beside it.</a:t>
            </a:r>
          </a:p>
        </p:txBody>
      </p:sp>
      <p:sp>
        <p:nvSpPr>
          <p:cNvPr id="14" name="TextBox 13"/>
          <p:cNvSpPr txBox="1"/>
          <p:nvPr/>
        </p:nvSpPr>
        <p:spPr>
          <a:xfrm>
            <a:off x="457200" y="4242816"/>
            <a:ext cx="640080" cy="365760"/>
          </a:xfrm>
          <a:prstGeom prst="rect">
            <a:avLst/>
          </a:prstGeom>
          <a:noFill/>
        </p:spPr>
        <p:txBody>
          <a:bodyPr wrap="square" lIns="0" rIns="0" tIns="0" bIns="0" anchor="t"/>
          <a:lstStyle/>
          <a:p>
            <a:pPr algn="l">
              <a:spcBef>
                <a:spcPts val="0"/>
              </a:spcBef>
              <a:spcAft>
                <a:spcPts val="0"/>
              </a:spcAft>
            </a:pPr>
            <a:r>
              <a:rPr sz="1800" b="1" i="0">
                <a:solidFill>
                  <a:srgbClr val="2D5A27"/>
                </a:solidFill>
                <a:latin typeface="Calibri"/>
              </a:rPr>
              <a:t>04</a:t>
            </a:r>
          </a:p>
        </p:txBody>
      </p:sp>
      <p:sp>
        <p:nvSpPr>
          <p:cNvPr id="15" name="TextBox 14"/>
          <p:cNvSpPr txBox="1"/>
          <p:nvPr/>
        </p:nvSpPr>
        <p:spPr>
          <a:xfrm>
            <a:off x="1234440" y="4242816"/>
            <a:ext cx="2834640" cy="365760"/>
          </a:xfrm>
          <a:prstGeom prst="rect">
            <a:avLst/>
          </a:prstGeom>
          <a:noFill/>
        </p:spPr>
        <p:txBody>
          <a:bodyPr wrap="square" lIns="0" rIns="0" tIns="0" bIns="0" anchor="t"/>
          <a:lstStyle/>
          <a:p>
            <a:pPr algn="l">
              <a:spcBef>
                <a:spcPts val="0"/>
              </a:spcBef>
              <a:spcAft>
                <a:spcPts val="0"/>
              </a:spcAft>
            </a:pPr>
            <a:r>
              <a:rPr sz="1800" b="1" i="0">
                <a:solidFill>
                  <a:srgbClr val="1A202C"/>
                </a:solidFill>
                <a:latin typeface="Calibri"/>
              </a:rPr>
              <a:t>Jobs are built in</a:t>
            </a:r>
          </a:p>
        </p:txBody>
      </p:sp>
      <p:sp>
        <p:nvSpPr>
          <p:cNvPr id="16" name="TextBox 15"/>
          <p:cNvSpPr txBox="1"/>
          <p:nvPr/>
        </p:nvSpPr>
        <p:spPr>
          <a:xfrm>
            <a:off x="4160520" y="4242816"/>
            <a:ext cx="7498079" cy="82296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Owner through driver already have different permissions. A new client maps people onto those jobs, then adjusts them.</a:t>
            </a:r>
          </a:p>
        </p:txBody>
      </p:sp>
      <p:sp>
        <p:nvSpPr>
          <p:cNvPr id="17" name="TextBox 16"/>
          <p:cNvSpPr txBox="1"/>
          <p:nvPr/>
        </p:nvSpPr>
        <p:spPr>
          <a:xfrm>
            <a:off x="457200" y="5230368"/>
            <a:ext cx="640080" cy="365760"/>
          </a:xfrm>
          <a:prstGeom prst="rect">
            <a:avLst/>
          </a:prstGeom>
          <a:noFill/>
        </p:spPr>
        <p:txBody>
          <a:bodyPr wrap="square" lIns="0" rIns="0" tIns="0" bIns="0" anchor="t"/>
          <a:lstStyle/>
          <a:p>
            <a:pPr algn="l">
              <a:spcBef>
                <a:spcPts val="0"/>
              </a:spcBef>
              <a:spcAft>
                <a:spcPts val="0"/>
              </a:spcAft>
            </a:pPr>
            <a:r>
              <a:rPr sz="1800" b="1" i="0">
                <a:solidFill>
                  <a:srgbClr val="2D5A27"/>
                </a:solidFill>
                <a:latin typeface="Calibri"/>
              </a:rPr>
              <a:t>05</a:t>
            </a:r>
          </a:p>
        </p:txBody>
      </p:sp>
      <p:sp>
        <p:nvSpPr>
          <p:cNvPr id="18" name="TextBox 17"/>
          <p:cNvSpPr txBox="1"/>
          <p:nvPr/>
        </p:nvSpPr>
        <p:spPr>
          <a:xfrm>
            <a:off x="1234440" y="5230368"/>
            <a:ext cx="2834640" cy="365760"/>
          </a:xfrm>
          <a:prstGeom prst="rect">
            <a:avLst/>
          </a:prstGeom>
          <a:noFill/>
        </p:spPr>
        <p:txBody>
          <a:bodyPr wrap="square" lIns="0" rIns="0" tIns="0" bIns="0" anchor="t"/>
          <a:lstStyle/>
          <a:p>
            <a:pPr algn="l">
              <a:spcBef>
                <a:spcPts val="0"/>
              </a:spcBef>
              <a:spcAft>
                <a:spcPts val="0"/>
              </a:spcAft>
            </a:pPr>
            <a:r>
              <a:rPr sz="1800" b="1" i="0">
                <a:solidFill>
                  <a:srgbClr val="1A202C"/>
                </a:solidFill>
                <a:latin typeface="Calibri"/>
              </a:rPr>
              <a:t>Straight scope</a:t>
            </a:r>
          </a:p>
        </p:txBody>
      </p:sp>
      <p:sp>
        <p:nvSpPr>
          <p:cNvPr id="19" name="TextBox 18"/>
          <p:cNvSpPr txBox="1"/>
          <p:nvPr/>
        </p:nvSpPr>
        <p:spPr>
          <a:xfrm>
            <a:off x="4160520" y="5230368"/>
            <a:ext cx="7498079" cy="822960"/>
          </a:xfrm>
          <a:prstGeom prst="rect">
            <a:avLst/>
          </a:prstGeom>
          <a:noFill/>
        </p:spPr>
        <p:txBody>
          <a:bodyPr wrap="square" lIns="0" rIns="0" tIns="0" bIns="0" anchor="t"/>
          <a:lstStyle/>
          <a:p>
            <a:pPr algn="l">
              <a:spcBef>
                <a:spcPts val="0"/>
              </a:spcBef>
              <a:spcAft>
                <a:spcPts val="0"/>
              </a:spcAft>
            </a:pPr>
            <a:r>
              <a:rPr sz="1500" b="0" i="0">
                <a:solidFill>
                  <a:srgbClr val="3D4A57"/>
                </a:solidFill>
                <a:latin typeface="Calibri"/>
              </a:rPr>
              <a:t>We separate what is in the product, what is a setting, and what must be quoted. The proposal uses the same three words.</a:t>
            </a:r>
          </a:p>
        </p:txBody>
      </p:sp>
      <p:sp>
        <p:nvSpPr>
          <p:cNvPr id="20" name="Rectangle 19"/>
          <p:cNvSpPr/>
          <p:nvPr/>
        </p:nvSpPr>
        <p:spPr>
          <a:xfrm>
            <a:off x="457200" y="6510528"/>
            <a:ext cx="11274552" cy="9144"/>
          </a:xfrm>
          <a:prstGeom prst="rect">
            <a:avLst/>
          </a:prstGeom>
          <a:solidFill>
            <a:srgbClr val="E1E8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565392"/>
            <a:ext cx="2011680" cy="237744"/>
          </a:xfrm>
          <a:prstGeom prst="rect">
            <a:avLst/>
          </a:prstGeom>
          <a:noFill/>
        </p:spPr>
        <p:txBody>
          <a:bodyPr wrap="square" lIns="0" rIns="0" tIns="0" bIns="0" anchor="t"/>
          <a:lstStyle/>
          <a:p>
            <a:pPr algn="l">
              <a:spcBef>
                <a:spcPts val="0"/>
              </a:spcBef>
              <a:spcAft>
                <a:spcPts val="0"/>
              </a:spcAft>
            </a:pPr>
            <a:r>
              <a:rPr sz="1000" b="1" i="0">
                <a:solidFill>
                  <a:srgbClr val="5C6B73"/>
                </a:solidFill>
                <a:latin typeface="Calibri"/>
              </a:rPr>
              <a:t>ELECNOVATECH</a:t>
            </a:r>
          </a:p>
        </p:txBody>
      </p:sp>
      <p:sp>
        <p:nvSpPr>
          <p:cNvPr id="22" name="TextBox 21"/>
          <p:cNvSpPr txBox="1"/>
          <p:nvPr/>
        </p:nvSpPr>
        <p:spPr>
          <a:xfrm>
            <a:off x="2468880" y="6565392"/>
            <a:ext cx="5943600" cy="237744"/>
          </a:xfrm>
          <a:prstGeom prst="rect">
            <a:avLst/>
          </a:prstGeom>
          <a:noFill/>
        </p:spPr>
        <p:txBody>
          <a:bodyPr wrap="square" lIns="0" rIns="0" tIns="0" bIns="0" anchor="t"/>
          <a:lstStyle/>
          <a:p>
            <a:pPr algn="ctr">
              <a:spcBef>
                <a:spcPts val="0"/>
              </a:spcBef>
              <a:spcAft>
                <a:spcPts val="0"/>
              </a:spcAft>
            </a:pPr>
            <a:r>
              <a:rPr sz="1000" b="0" i="0">
                <a:solidFill>
                  <a:srgbClr val="5C6B73"/>
                </a:solidFill>
                <a:latin typeface="Calibri"/>
              </a:rPr>
              <a:t>HYBRID  ·  Sales presentation</a:t>
            </a:r>
          </a:p>
        </p:txBody>
      </p:sp>
      <p:sp>
        <p:nvSpPr>
          <p:cNvPr id="23" name="TextBox 22"/>
          <p:cNvSpPr txBox="1"/>
          <p:nvPr/>
        </p:nvSpPr>
        <p:spPr>
          <a:xfrm>
            <a:off x="9509760" y="6565392"/>
            <a:ext cx="2221992" cy="237744"/>
          </a:xfrm>
          <a:prstGeom prst="rect">
            <a:avLst/>
          </a:prstGeom>
          <a:noFill/>
        </p:spPr>
        <p:txBody>
          <a:bodyPr wrap="square" lIns="0" rIns="0" tIns="0" bIns="0" anchor="t"/>
          <a:lstStyle/>
          <a:p>
            <a:pPr algn="r">
              <a:spcBef>
                <a:spcPts val="0"/>
              </a:spcBef>
              <a:spcAft>
                <a:spcPts val="0"/>
              </a:spcAft>
            </a:pPr>
            <a:r>
              <a:rPr sz="1000" b="1" i="0">
                <a:solidFill>
                  <a:srgbClr val="5C6B73"/>
                </a:solidFill>
                <a:latin typeface="Calibri"/>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8016" y="0"/>
            <a:ext cx="54864" cy="6858000"/>
          </a:xfrm>
          <a:prstGeom prst="rect">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65760"/>
            <a:ext cx="7315200" cy="274320"/>
          </a:xfrm>
          <a:prstGeom prst="rect">
            <a:avLst/>
          </a:prstGeom>
          <a:noFill/>
        </p:spPr>
        <p:txBody>
          <a:bodyPr wrap="square" lIns="0" rIns="0" tIns="0" bIns="0" anchor="t"/>
          <a:lstStyle/>
          <a:p>
            <a:pPr algn="l">
              <a:spcBef>
                <a:spcPts val="0"/>
              </a:spcBef>
              <a:spcAft>
                <a:spcPts val="0"/>
              </a:spcAft>
            </a:pPr>
            <a:r>
              <a:rPr sz="1300" b="1" i="0">
                <a:solidFill>
                  <a:srgbClr val="80C342"/>
                </a:solidFill>
                <a:latin typeface="Calibri"/>
              </a:rPr>
              <a:t>NEXT CONVERSATION</a:t>
            </a:r>
          </a:p>
        </p:txBody>
      </p:sp>
      <p:sp>
        <p:nvSpPr>
          <p:cNvPr id="6" name="TextBox 5"/>
          <p:cNvSpPr txBox="1"/>
          <p:nvPr/>
        </p:nvSpPr>
        <p:spPr>
          <a:xfrm>
            <a:off x="640080" y="731520"/>
            <a:ext cx="10972800" cy="1371600"/>
          </a:xfrm>
          <a:prstGeom prst="rect">
            <a:avLst/>
          </a:prstGeom>
          <a:noFill/>
        </p:spPr>
        <p:txBody>
          <a:bodyPr wrap="square" lIns="0" rIns="0" tIns="0" bIns="0" anchor="t"/>
          <a:lstStyle/>
          <a:p>
            <a:pPr algn="l">
              <a:spcBef>
                <a:spcPts val="0"/>
              </a:spcBef>
              <a:spcAft>
                <a:spcPts val="0"/>
              </a:spcAft>
            </a:pPr>
            <a:r>
              <a:rPr sz="3200" b="1" i="0">
                <a:solidFill>
                  <a:srgbClr val="FFFFFF"/>
                </a:solidFill>
                <a:latin typeface="Calibri"/>
              </a:rPr>
              <a:t>See it on their work,
then price the written scope.</a:t>
            </a:r>
          </a:p>
        </p:txBody>
      </p:sp>
      <p:sp>
        <p:nvSpPr>
          <p:cNvPr id="7" name="Rounded Rectangle 6"/>
          <p:cNvSpPr/>
          <p:nvPr/>
        </p:nvSpPr>
        <p:spPr>
          <a:xfrm>
            <a:off x="640080" y="2468880"/>
            <a:ext cx="384048" cy="384048"/>
          </a:xfrm>
          <a:prstGeom prst="roundRect">
            <a:avLst>
              <a:gd name="adj" fmla="val 20000"/>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505456"/>
            <a:ext cx="384048" cy="310896"/>
          </a:xfrm>
          <a:prstGeom prst="rect">
            <a:avLst/>
          </a:prstGeom>
          <a:noFill/>
        </p:spPr>
        <p:txBody>
          <a:bodyPr wrap="square" lIns="0" rIns="0" tIns="0" bIns="0" anchor="t"/>
          <a:lstStyle/>
          <a:p>
            <a:pPr algn="ctr">
              <a:spcBef>
                <a:spcPts val="0"/>
              </a:spcBef>
              <a:spcAft>
                <a:spcPts val="0"/>
              </a:spcAft>
            </a:pPr>
            <a:r>
              <a:rPr sz="1400" b="1" i="0">
                <a:solidFill>
                  <a:srgbClr val="FFFFFF"/>
                </a:solidFill>
                <a:latin typeface="Calibri"/>
              </a:rPr>
              <a:t>1</a:t>
            </a:r>
          </a:p>
        </p:txBody>
      </p:sp>
      <p:sp>
        <p:nvSpPr>
          <p:cNvPr id="9" name="TextBox 8"/>
          <p:cNvSpPr txBox="1"/>
          <p:nvPr/>
        </p:nvSpPr>
        <p:spPr>
          <a:xfrm>
            <a:off x="1188720" y="2487168"/>
            <a:ext cx="6858000" cy="365760"/>
          </a:xfrm>
          <a:prstGeom prst="rect">
            <a:avLst/>
          </a:prstGeom>
          <a:noFill/>
        </p:spPr>
        <p:txBody>
          <a:bodyPr wrap="square" lIns="0" rIns="0" tIns="0" bIns="0" anchor="t"/>
          <a:lstStyle/>
          <a:p>
            <a:pPr algn="l">
              <a:spcBef>
                <a:spcPts val="0"/>
              </a:spcBef>
              <a:spcAft>
                <a:spcPts val="0"/>
              </a:spcAft>
            </a:pPr>
            <a:r>
              <a:rPr sz="1600" b="0" i="0">
                <a:solidFill>
                  <a:srgbClr val="E4ECE6"/>
                </a:solidFill>
                <a:latin typeface="Calibri"/>
              </a:rPr>
              <a:t>Walk one block size or one recycling day</a:t>
            </a:r>
          </a:p>
        </p:txBody>
      </p:sp>
      <p:sp>
        <p:nvSpPr>
          <p:cNvPr id="10" name="Rounded Rectangle 9"/>
          <p:cNvSpPr/>
          <p:nvPr/>
        </p:nvSpPr>
        <p:spPr>
          <a:xfrm>
            <a:off x="640080" y="3127248"/>
            <a:ext cx="384048" cy="384048"/>
          </a:xfrm>
          <a:prstGeom prst="roundRect">
            <a:avLst>
              <a:gd name="adj" fmla="val 20000"/>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163824"/>
            <a:ext cx="384048" cy="310896"/>
          </a:xfrm>
          <a:prstGeom prst="rect">
            <a:avLst/>
          </a:prstGeom>
          <a:noFill/>
        </p:spPr>
        <p:txBody>
          <a:bodyPr wrap="square" lIns="0" rIns="0" tIns="0" bIns="0" anchor="t"/>
          <a:lstStyle/>
          <a:p>
            <a:pPr algn="ctr">
              <a:spcBef>
                <a:spcPts val="0"/>
              </a:spcBef>
              <a:spcAft>
                <a:spcPts val="0"/>
              </a:spcAft>
            </a:pPr>
            <a:r>
              <a:rPr sz="1400" b="1" i="0">
                <a:solidFill>
                  <a:srgbClr val="FFFFFF"/>
                </a:solidFill>
                <a:latin typeface="Calibri"/>
              </a:rPr>
              <a:t>2</a:t>
            </a:r>
          </a:p>
        </p:txBody>
      </p:sp>
      <p:sp>
        <p:nvSpPr>
          <p:cNvPr id="12" name="TextBox 11"/>
          <p:cNvSpPr txBox="1"/>
          <p:nvPr/>
        </p:nvSpPr>
        <p:spPr>
          <a:xfrm>
            <a:off x="1188720" y="3145536"/>
            <a:ext cx="6858000" cy="365760"/>
          </a:xfrm>
          <a:prstGeom prst="rect">
            <a:avLst/>
          </a:prstGeom>
          <a:noFill/>
        </p:spPr>
        <p:txBody>
          <a:bodyPr wrap="square" lIns="0" rIns="0" tIns="0" bIns="0" anchor="t"/>
          <a:lstStyle/>
          <a:p>
            <a:pPr algn="l">
              <a:spcBef>
                <a:spcPts val="0"/>
              </a:spcBef>
              <a:spcAft>
                <a:spcPts val="0"/>
              </a:spcAft>
            </a:pPr>
            <a:r>
              <a:rPr sz="1600" b="0" i="0">
                <a:solidFill>
                  <a:srgbClr val="E4ECE6"/>
                </a:solidFill>
                <a:latin typeface="Calibri"/>
              </a:rPr>
              <a:t>Open one customer who buys on credit</a:t>
            </a:r>
          </a:p>
        </p:txBody>
      </p:sp>
      <p:sp>
        <p:nvSpPr>
          <p:cNvPr id="13" name="Rounded Rectangle 12"/>
          <p:cNvSpPr/>
          <p:nvPr/>
        </p:nvSpPr>
        <p:spPr>
          <a:xfrm>
            <a:off x="640080" y="3785616"/>
            <a:ext cx="384048" cy="384048"/>
          </a:xfrm>
          <a:prstGeom prst="roundRect">
            <a:avLst>
              <a:gd name="adj" fmla="val 20000"/>
            </a:avLst>
          </a:prstGeom>
          <a:solidFill>
            <a:srgbClr val="80C3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822192"/>
            <a:ext cx="384048" cy="310896"/>
          </a:xfrm>
          <a:prstGeom prst="rect">
            <a:avLst/>
          </a:prstGeom>
          <a:noFill/>
        </p:spPr>
        <p:txBody>
          <a:bodyPr wrap="square" lIns="0" rIns="0" tIns="0" bIns="0" anchor="t"/>
          <a:lstStyle/>
          <a:p>
            <a:pPr algn="ctr">
              <a:spcBef>
                <a:spcPts val="0"/>
              </a:spcBef>
              <a:spcAft>
                <a:spcPts val="0"/>
              </a:spcAft>
            </a:pPr>
            <a:r>
              <a:rPr sz="1400" b="1" i="0">
                <a:solidFill>
                  <a:srgbClr val="FFFFFF"/>
                </a:solidFill>
                <a:latin typeface="Calibri"/>
              </a:rPr>
              <a:t>3</a:t>
            </a:r>
          </a:p>
        </p:txBody>
      </p:sp>
      <p:sp>
        <p:nvSpPr>
          <p:cNvPr id="15" name="TextBox 14"/>
          <p:cNvSpPr txBox="1"/>
          <p:nvPr/>
        </p:nvSpPr>
        <p:spPr>
          <a:xfrm>
            <a:off x="1188720" y="3803904"/>
            <a:ext cx="6858000" cy="365760"/>
          </a:xfrm>
          <a:prstGeom prst="rect">
            <a:avLst/>
          </a:prstGeom>
          <a:noFill/>
        </p:spPr>
        <p:txBody>
          <a:bodyPr wrap="square" lIns="0" rIns="0" tIns="0" bIns="0" anchor="t"/>
          <a:lstStyle/>
          <a:p>
            <a:pPr algn="l">
              <a:spcBef>
                <a:spcPts val="0"/>
              </a:spcBef>
              <a:spcAft>
                <a:spcPts val="0"/>
              </a:spcAft>
            </a:pPr>
            <a:r>
              <a:rPr sz="1600" b="0" i="0">
                <a:solidFill>
                  <a:srgbClr val="E4ECE6"/>
                </a:solidFill>
                <a:latin typeface="Calibri"/>
              </a:rPr>
              <a:t>Show the Sage comparison, including what the connector still needs</a:t>
            </a:r>
          </a:p>
        </p:txBody>
      </p:sp>
      <p:sp>
        <p:nvSpPr>
          <p:cNvPr id="16" name="Rounded Rectangle 15"/>
          <p:cNvSpPr/>
          <p:nvPr/>
        </p:nvSpPr>
        <p:spPr>
          <a:xfrm>
            <a:off x="640080" y="4443984"/>
            <a:ext cx="384048" cy="384048"/>
          </a:xfrm>
          <a:prstGeom prst="roundRect">
            <a:avLst>
              <a:gd name="adj" fmla="val 20000"/>
            </a:avLst>
          </a:prstGeom>
          <a:solidFill>
            <a:srgbClr val="00AE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480560"/>
            <a:ext cx="384048" cy="310896"/>
          </a:xfrm>
          <a:prstGeom prst="rect">
            <a:avLst/>
          </a:prstGeom>
          <a:noFill/>
        </p:spPr>
        <p:txBody>
          <a:bodyPr wrap="square" lIns="0" rIns="0" tIns="0" bIns="0" anchor="t"/>
          <a:lstStyle/>
          <a:p>
            <a:pPr algn="ctr">
              <a:spcBef>
                <a:spcPts val="0"/>
              </a:spcBef>
              <a:spcAft>
                <a:spcPts val="0"/>
              </a:spcAft>
            </a:pPr>
            <a:r>
              <a:rPr sz="1400" b="1" i="0">
                <a:solidFill>
                  <a:srgbClr val="FFFFFF"/>
                </a:solidFill>
                <a:latin typeface="Calibri"/>
              </a:rPr>
              <a:t>4</a:t>
            </a:r>
          </a:p>
        </p:txBody>
      </p:sp>
      <p:sp>
        <p:nvSpPr>
          <p:cNvPr id="18" name="TextBox 17"/>
          <p:cNvSpPr txBox="1"/>
          <p:nvPr/>
        </p:nvSpPr>
        <p:spPr>
          <a:xfrm>
            <a:off x="1188720" y="4462272"/>
            <a:ext cx="6858000" cy="365760"/>
          </a:xfrm>
          <a:prstGeom prst="rect">
            <a:avLst/>
          </a:prstGeom>
          <a:noFill/>
        </p:spPr>
        <p:txBody>
          <a:bodyPr wrap="square" lIns="0" rIns="0" tIns="0" bIns="0" anchor="t"/>
          <a:lstStyle/>
          <a:p>
            <a:pPr algn="l">
              <a:spcBef>
                <a:spcPts val="0"/>
              </a:spcBef>
              <a:spcAft>
                <a:spcPts val="0"/>
              </a:spcAft>
            </a:pPr>
            <a:r>
              <a:rPr sz="1600" b="0" i="0">
                <a:solidFill>
                  <a:srgbClr val="E4ECE6"/>
                </a:solidFill>
                <a:latin typeface="Calibri"/>
              </a:rPr>
              <a:t>Leave with a quote that fills the brackets</a:t>
            </a:r>
          </a:p>
        </p:txBody>
      </p:sp>
      <p:sp>
        <p:nvSpPr>
          <p:cNvPr id="19" name="Rounded Rectangle 18"/>
          <p:cNvSpPr/>
          <p:nvPr/>
        </p:nvSpPr>
        <p:spPr>
          <a:xfrm>
            <a:off x="8549640" y="2468880"/>
            <a:ext cx="3108960" cy="2880360"/>
          </a:xfrm>
          <a:prstGeom prst="roundRect">
            <a:avLst>
              <a:gd name="adj" fmla="val 8000"/>
            </a:avLst>
          </a:prstGeom>
          <a:solidFill>
            <a:srgbClr val="162836"/>
          </a:solidFill>
          <a:ln w="12700">
            <a:solidFill>
              <a:srgbClr val="E1E8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32520" y="2651760"/>
            <a:ext cx="2788920" cy="274320"/>
          </a:xfrm>
          <a:prstGeom prst="rect">
            <a:avLst/>
          </a:prstGeom>
          <a:noFill/>
        </p:spPr>
        <p:txBody>
          <a:bodyPr wrap="square" lIns="0" rIns="0" tIns="0" bIns="0" anchor="t"/>
          <a:lstStyle/>
          <a:p>
            <a:pPr algn="l">
              <a:spcBef>
                <a:spcPts val="0"/>
              </a:spcBef>
              <a:spcAft>
                <a:spcPts val="0"/>
              </a:spcAft>
            </a:pPr>
            <a:r>
              <a:rPr sz="1200" b="1" i="0">
                <a:solidFill>
                  <a:srgbClr val="80C342"/>
                </a:solidFill>
                <a:latin typeface="Calibri"/>
              </a:rPr>
              <a:t>ELECNOVATECH</a:t>
            </a:r>
          </a:p>
        </p:txBody>
      </p:sp>
      <p:sp>
        <p:nvSpPr>
          <p:cNvPr id="21" name="TextBox 20"/>
          <p:cNvSpPr txBox="1"/>
          <p:nvPr/>
        </p:nvSpPr>
        <p:spPr>
          <a:xfrm>
            <a:off x="8732520" y="3063240"/>
            <a:ext cx="2788920" cy="320040"/>
          </a:xfrm>
          <a:prstGeom prst="rect">
            <a:avLst/>
          </a:prstGeom>
          <a:noFill/>
        </p:spPr>
        <p:txBody>
          <a:bodyPr wrap="square" lIns="0" rIns="0" tIns="0" bIns="0" anchor="t"/>
          <a:lstStyle/>
          <a:p>
            <a:pPr algn="l">
              <a:spcBef>
                <a:spcPts val="0"/>
              </a:spcBef>
              <a:spcAft>
                <a:spcPts val="0"/>
              </a:spcAft>
            </a:pPr>
            <a:r>
              <a:rPr sz="1600" b="1" i="0">
                <a:solidFill>
                  <a:srgbClr val="FFFFFF"/>
                </a:solidFill>
                <a:latin typeface="Calibri"/>
              </a:rPr>
              <a:t>[Contact name]</a:t>
            </a:r>
          </a:p>
        </p:txBody>
      </p:sp>
      <p:sp>
        <p:nvSpPr>
          <p:cNvPr id="22" name="TextBox 21"/>
          <p:cNvSpPr txBox="1"/>
          <p:nvPr/>
        </p:nvSpPr>
        <p:spPr>
          <a:xfrm>
            <a:off x="8732520" y="3474720"/>
            <a:ext cx="2788920" cy="292608"/>
          </a:xfrm>
          <a:prstGeom prst="rect">
            <a:avLst/>
          </a:prstGeom>
          <a:noFill/>
        </p:spPr>
        <p:txBody>
          <a:bodyPr wrap="square" lIns="0" rIns="0" tIns="0" bIns="0" anchor="t"/>
          <a:lstStyle/>
          <a:p>
            <a:pPr algn="l">
              <a:spcBef>
                <a:spcPts val="0"/>
              </a:spcBef>
              <a:spcAft>
                <a:spcPts val="0"/>
              </a:spcAft>
            </a:pPr>
            <a:r>
              <a:rPr sz="1400" b="0" i="0">
                <a:solidFill>
                  <a:srgbClr val="D0DED4"/>
                </a:solidFill>
                <a:latin typeface="Calibri"/>
              </a:rPr>
              <a:t>[Email]</a:t>
            </a:r>
          </a:p>
        </p:txBody>
      </p:sp>
      <p:sp>
        <p:nvSpPr>
          <p:cNvPr id="23" name="TextBox 22"/>
          <p:cNvSpPr txBox="1"/>
          <p:nvPr/>
        </p:nvSpPr>
        <p:spPr>
          <a:xfrm>
            <a:off x="8732520" y="3822191"/>
            <a:ext cx="2788920" cy="292608"/>
          </a:xfrm>
          <a:prstGeom prst="rect">
            <a:avLst/>
          </a:prstGeom>
          <a:noFill/>
        </p:spPr>
        <p:txBody>
          <a:bodyPr wrap="square" lIns="0" rIns="0" tIns="0" bIns="0" anchor="t"/>
          <a:lstStyle/>
          <a:p>
            <a:pPr algn="l">
              <a:spcBef>
                <a:spcPts val="0"/>
              </a:spcBef>
              <a:spcAft>
                <a:spcPts val="0"/>
              </a:spcAft>
            </a:pPr>
            <a:r>
              <a:rPr sz="1400" b="0" i="0">
                <a:solidFill>
                  <a:srgbClr val="D0DED4"/>
                </a:solidFill>
                <a:latin typeface="Calibri"/>
              </a:rPr>
              <a:t>[Phone]</a:t>
            </a:r>
          </a:p>
        </p:txBody>
      </p:sp>
      <p:sp>
        <p:nvSpPr>
          <p:cNvPr id="24" name="TextBox 23"/>
          <p:cNvSpPr txBox="1"/>
          <p:nvPr/>
        </p:nvSpPr>
        <p:spPr>
          <a:xfrm>
            <a:off x="8732520" y="4389120"/>
            <a:ext cx="2788920" cy="502920"/>
          </a:xfrm>
          <a:prstGeom prst="rect">
            <a:avLst/>
          </a:prstGeom>
          <a:noFill/>
        </p:spPr>
        <p:txBody>
          <a:bodyPr wrap="square" lIns="0" rIns="0" tIns="0" bIns="0" anchor="t"/>
          <a:lstStyle/>
          <a:p>
            <a:pPr algn="l">
              <a:spcBef>
                <a:spcPts val="0"/>
              </a:spcBef>
              <a:spcAft>
                <a:spcPts val="0"/>
              </a:spcAft>
            </a:pPr>
            <a:r>
              <a:rPr sz="1300" b="0" i="0">
                <a:solidFill>
                  <a:srgbClr val="9AB4A0"/>
                </a:solidFill>
                <a:latin typeface="Calibri"/>
              </a:rPr>
              <a:t>[Client name]</a:t>
            </a:r>
          </a:p>
        </p:txBody>
      </p:sp>
      <p:sp>
        <p:nvSpPr>
          <p:cNvPr id="25" name="Rectangle 24"/>
          <p:cNvSpPr/>
          <p:nvPr/>
        </p:nvSpPr>
        <p:spPr>
          <a:xfrm>
            <a:off x="457200" y="6510528"/>
            <a:ext cx="11274552" cy="9144"/>
          </a:xfrm>
          <a:prstGeom prst="rect">
            <a:avLst/>
          </a:prstGeom>
          <a:solidFill>
            <a:srgbClr val="2A3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6565392"/>
            <a:ext cx="2011680" cy="237744"/>
          </a:xfrm>
          <a:prstGeom prst="rect">
            <a:avLst/>
          </a:prstGeom>
          <a:noFill/>
        </p:spPr>
        <p:txBody>
          <a:bodyPr wrap="square" lIns="0" rIns="0" tIns="0" bIns="0" anchor="t"/>
          <a:lstStyle/>
          <a:p>
            <a:pPr algn="l">
              <a:spcBef>
                <a:spcPts val="0"/>
              </a:spcBef>
              <a:spcAft>
                <a:spcPts val="0"/>
              </a:spcAft>
            </a:pPr>
            <a:r>
              <a:rPr sz="1000" b="1" i="0">
                <a:solidFill>
                  <a:srgbClr val="9AA8B0"/>
                </a:solidFill>
                <a:latin typeface="Calibri"/>
              </a:rPr>
              <a:t>ELECNOVATECH</a:t>
            </a:r>
          </a:p>
        </p:txBody>
      </p:sp>
      <p:sp>
        <p:nvSpPr>
          <p:cNvPr id="27" name="TextBox 26"/>
          <p:cNvSpPr txBox="1"/>
          <p:nvPr/>
        </p:nvSpPr>
        <p:spPr>
          <a:xfrm>
            <a:off x="2468880" y="6565392"/>
            <a:ext cx="5943600" cy="237744"/>
          </a:xfrm>
          <a:prstGeom prst="rect">
            <a:avLst/>
          </a:prstGeom>
          <a:noFill/>
        </p:spPr>
        <p:txBody>
          <a:bodyPr wrap="square" lIns="0" rIns="0" tIns="0" bIns="0" anchor="t"/>
          <a:lstStyle/>
          <a:p>
            <a:pPr algn="ctr">
              <a:spcBef>
                <a:spcPts val="0"/>
              </a:spcBef>
              <a:spcAft>
                <a:spcPts val="0"/>
              </a:spcAft>
            </a:pPr>
            <a:r>
              <a:rPr sz="1000" b="0" i="0">
                <a:solidFill>
                  <a:srgbClr val="9AA8B0"/>
                </a:solidFill>
                <a:latin typeface="Calibri"/>
              </a:rPr>
              <a:t>HYBRID  ·  Sales presentation</a:t>
            </a:r>
          </a:p>
        </p:txBody>
      </p:sp>
      <p:sp>
        <p:nvSpPr>
          <p:cNvPr id="28" name="TextBox 27"/>
          <p:cNvSpPr txBox="1"/>
          <p:nvPr/>
        </p:nvSpPr>
        <p:spPr>
          <a:xfrm>
            <a:off x="9509760" y="6565392"/>
            <a:ext cx="2221992" cy="237744"/>
          </a:xfrm>
          <a:prstGeom prst="rect">
            <a:avLst/>
          </a:prstGeom>
          <a:noFill/>
        </p:spPr>
        <p:txBody>
          <a:bodyPr wrap="square" lIns="0" rIns="0" tIns="0" bIns="0" anchor="t"/>
          <a:lstStyle/>
          <a:p>
            <a:pPr algn="r">
              <a:spcBef>
                <a:spcPts val="0"/>
              </a:spcBef>
              <a:spcAft>
                <a:spcPts val="0"/>
              </a:spcAft>
            </a:pPr>
            <a:r>
              <a:rPr sz="1000" b="1" i="0">
                <a:solidFill>
                  <a:srgbClr val="9AA8B0"/>
                </a:solidFill>
                <a:latin typeface="Calibri"/>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 Sales presentation</dc:title>
  <dc:subject>Operations platform for block factories and plastic recycling plants</dc:subject>
  <dc:creator>Elecnovatech</dc:creator>
  <cp:keywords/>
  <dc:description>Editable sales deck. Bracketed fields are completed per client. Do not add metrics, testimonials, or features that are not in the product.</dc:description>
  <cp:lastModifiedBy>Steve Canny</cp:lastModifiedBy>
  <cp:revision>1</cp:revision>
  <dcterms:created xsi:type="dcterms:W3CDTF">2013-01-27T09:14:16Z</dcterms:created>
  <dcterms:modified xsi:type="dcterms:W3CDTF">2013-01-27T09:15:58Z</dcterms:modified>
  <cp:category>Sales</cp:category>
</cp:coreProperties>
</file>